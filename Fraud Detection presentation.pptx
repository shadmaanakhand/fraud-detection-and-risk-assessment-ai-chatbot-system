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sldIdLst>
    <p:sldId id="256" r:id="rId2"/>
    <p:sldId id="258" r:id="rId3"/>
    <p:sldId id="275" r:id="rId4"/>
    <p:sldId id="285" r:id="rId5"/>
    <p:sldId id="259" r:id="rId6"/>
    <p:sldId id="260" r:id="rId7"/>
    <p:sldId id="261" r:id="rId8"/>
    <p:sldId id="276" r:id="rId9"/>
    <p:sldId id="277" r:id="rId10"/>
    <p:sldId id="262" r:id="rId11"/>
    <p:sldId id="279" r:id="rId12"/>
    <p:sldId id="280" r:id="rId13"/>
    <p:sldId id="281" r:id="rId14"/>
    <p:sldId id="282" r:id="rId15"/>
    <p:sldId id="283" r:id="rId16"/>
    <p:sldId id="284" r:id="rId17"/>
    <p:sldId id="257" r:id="rId18"/>
    <p:sldId id="263" r:id="rId19"/>
    <p:sldId id="264" r:id="rId20"/>
    <p:sldId id="265" r:id="rId21"/>
    <p:sldId id="266" r:id="rId22"/>
    <p:sldId id="267" r:id="rId23"/>
    <p:sldId id="268" r:id="rId24"/>
    <p:sldId id="269" r:id="rId25"/>
    <p:sldId id="270" r:id="rId26"/>
    <p:sldId id="271" r:id="rId27"/>
    <p:sldId id="272" r:id="rId28"/>
    <p:sldId id="286" r:id="rId29"/>
    <p:sldId id="287" r:id="rId30"/>
    <p:sldId id="273" r:id="rId31"/>
    <p:sldId id="278" r:id="rId32"/>
    <p:sldId id="274" r:id="rId33"/>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0494A629-1945-4F5E-B3A3-A255DC331EDE}" v="12" dt="2025-12-12T04:10:08.184"/>
    <p1510:client id="{348CCACC-E35B-6404-FF66-20025D6E7794}" v="35" dt="2025-12-13T00:36:34.422"/>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987" autoAdjust="0"/>
    <p:restoredTop sz="94660"/>
  </p:normalViewPr>
  <p:slideViewPr>
    <p:cSldViewPr snapToGrid="0">
      <p:cViewPr varScale="1">
        <p:scale>
          <a:sx n="82" d="100"/>
          <a:sy n="82" d="100"/>
        </p:scale>
        <p:origin x="672" y="288"/>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21" Type="http://schemas.openxmlformats.org/officeDocument/2006/relationships/slide" Target="slides/slide20.xml"/><Relationship Id="rId34" Type="http://schemas.openxmlformats.org/officeDocument/2006/relationships/presProps" Target="pres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microsoft.com/office/2015/10/relationships/revisionInfo" Target="revisionInfo.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viewProps" Target="viewProps.xml"/><Relationship Id="rId8" Type="http://schemas.openxmlformats.org/officeDocument/2006/relationships/slide" Target="slides/slide7.xml"/><Relationship Id="rId3" Type="http://schemas.openxmlformats.org/officeDocument/2006/relationships/slide" Target="slides/slide2.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154955" y="1447800"/>
            <a:ext cx="8825658" cy="3329581"/>
          </a:xfrm>
        </p:spPr>
        <p:txBody>
          <a:bodyPr anchor="b"/>
          <a:lstStyle>
            <a:lvl1pPr>
              <a:defRPr sz="7200"/>
            </a:lvl1pPr>
          </a:lstStyle>
          <a:p>
            <a:r>
              <a:rPr lang="en-US"/>
              <a:t>Click to edit Master title style</a:t>
            </a:r>
            <a:endParaRPr lang="en-US" dirty="0"/>
          </a:p>
        </p:txBody>
      </p:sp>
      <p:sp>
        <p:nvSpPr>
          <p:cNvPr id="3" name="Subtitle 2"/>
          <p:cNvSpPr>
            <a:spLocks noGrp="1"/>
          </p:cNvSpPr>
          <p:nvPr>
            <p:ph type="subTitle" idx="1"/>
          </p:nvPr>
        </p:nvSpPr>
        <p:spPr>
          <a:xfrm>
            <a:off x="1154955" y="4777380"/>
            <a:ext cx="8825658" cy="861420"/>
          </a:xfrm>
        </p:spPr>
        <p:txBody>
          <a:bodyPr anchor="t"/>
          <a:lstStyle>
            <a:lvl1pPr marL="0" indent="0" algn="l">
              <a:buNone/>
              <a:defRPr cap="all">
                <a:solidFill>
                  <a:schemeClr val="bg2">
                    <a:lumMod val="40000"/>
                    <a:lumOff val="60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FB402931-4249-4B2A-92E1-93E6049CAE2F}" type="datetimeFigureOut">
              <a:rPr lang="en-US" smtClean="0"/>
              <a:t>12/12/2025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72D3E84E-F4FF-4177-9566-0B23E7564616}" type="slidenum">
              <a:rPr lang="en-US" smtClean="0"/>
              <a:t>‹#›</a:t>
            </a:fld>
            <a:endParaRPr lang="en-US"/>
          </a:p>
        </p:txBody>
      </p:sp>
    </p:spTree>
    <p:extLst>
      <p:ext uri="{BB962C8B-B14F-4D97-AF65-F5344CB8AC3E}">
        <p14:creationId xmlns:p14="http://schemas.microsoft.com/office/powerpoint/2010/main" val="2001643166"/>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3"/>
          <p:cNvSpPr>
            <a:spLocks noGrp="1"/>
          </p:cNvSpPr>
          <p:nvPr>
            <p:ph type="dt" sz="half" idx="10"/>
          </p:nvPr>
        </p:nvSpPr>
        <p:spPr/>
        <p:txBody>
          <a:bodyPr/>
          <a:lstStyle/>
          <a:p>
            <a:fld id="{FB402931-4249-4B2A-92E1-93E6049CAE2F}" type="datetimeFigureOut">
              <a:rPr lang="en-US" smtClean="0"/>
              <a:t>12/12/2025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72D3E84E-F4FF-4177-9566-0B23E7564616}" type="slidenum">
              <a:rPr lang="en-US" smtClean="0"/>
              <a:t>‹#›</a:t>
            </a:fld>
            <a:endParaRPr lang="en-US"/>
          </a:p>
        </p:txBody>
      </p:sp>
    </p:spTree>
    <p:extLst>
      <p:ext uri="{BB962C8B-B14F-4D97-AF65-F5344CB8AC3E}">
        <p14:creationId xmlns:p14="http://schemas.microsoft.com/office/powerpoint/2010/main" val="215615491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1154956" y="2861733"/>
            <a:ext cx="8825657" cy="1915647"/>
          </a:xfrm>
        </p:spPr>
        <p:txBody>
          <a:bodyPr anchor="b"/>
          <a:lstStyle>
            <a:lvl1pPr algn="l">
              <a:defRPr sz="4000" b="0" cap="none"/>
            </a:lvl1pPr>
          </a:lstStyle>
          <a:p>
            <a:r>
              <a:rPr lang="en-US"/>
              <a:t>Click to edit Master title style</a:t>
            </a:r>
            <a:endParaRPr lang="en-US" dirty="0"/>
          </a:p>
        </p:txBody>
      </p:sp>
      <p:sp>
        <p:nvSpPr>
          <p:cNvPr id="3" name="Text Placeholder 2"/>
          <p:cNvSpPr>
            <a:spLocks noGrp="1"/>
          </p:cNvSpPr>
          <p:nvPr>
            <p:ph type="body" idx="1"/>
          </p:nvPr>
        </p:nvSpPr>
        <p:spPr>
          <a:xfrm>
            <a:off x="1154955" y="4777381"/>
            <a:ext cx="8825658" cy="860400"/>
          </a:xfrm>
        </p:spPr>
        <p:txBody>
          <a:bodyPr anchor="t"/>
          <a:lstStyle>
            <a:lvl1pPr marL="0" indent="0" algn="l">
              <a:buNone/>
              <a:defRPr sz="2000" cap="all">
                <a:solidFill>
                  <a:schemeClr val="bg2">
                    <a:lumMod val="40000"/>
                    <a:lumOff val="6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FB402931-4249-4B2A-92E1-93E6049CAE2F}" type="datetimeFigureOut">
              <a:rPr lang="en-US" smtClean="0"/>
              <a:t>12/12/2025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72D3E84E-F4FF-4177-9566-0B23E7564616}" type="slidenum">
              <a:rPr lang="en-US" smtClean="0"/>
              <a:t>‹#›</a:t>
            </a:fld>
            <a:endParaRPr lang="en-US"/>
          </a:p>
        </p:txBody>
      </p:sp>
    </p:spTree>
    <p:extLst>
      <p:ext uri="{BB962C8B-B14F-4D97-AF65-F5344CB8AC3E}">
        <p14:creationId xmlns:p14="http://schemas.microsoft.com/office/powerpoint/2010/main" val="263791587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1103312" y="2060575"/>
            <a:ext cx="4396339" cy="4195763"/>
          </a:xfrm>
        </p:spPr>
        <p:txBody>
          <a:bodyPr>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5654493" y="2056092"/>
            <a:ext cx="4396341" cy="4200245"/>
          </a:xfrm>
        </p:spPr>
        <p:txBody>
          <a:bodyPr>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FB402931-4249-4B2A-92E1-93E6049CAE2F}" type="datetimeFigureOut">
              <a:rPr lang="en-US" smtClean="0"/>
              <a:t>12/12/2025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72D3E84E-F4FF-4177-9566-0B23E7564616}" type="slidenum">
              <a:rPr lang="en-US" smtClean="0"/>
              <a:t>‹#›</a:t>
            </a:fld>
            <a:endParaRPr lang="en-US"/>
          </a:p>
        </p:txBody>
      </p:sp>
    </p:spTree>
    <p:extLst>
      <p:ext uri="{BB962C8B-B14F-4D97-AF65-F5344CB8AC3E}">
        <p14:creationId xmlns:p14="http://schemas.microsoft.com/office/powerpoint/2010/main" val="342986129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endParaRPr lang="en-US" dirty="0"/>
          </a:p>
        </p:txBody>
      </p:sp>
      <p:sp>
        <p:nvSpPr>
          <p:cNvPr id="3" name="Text Placeholder 2"/>
          <p:cNvSpPr>
            <a:spLocks noGrp="1"/>
          </p:cNvSpPr>
          <p:nvPr>
            <p:ph type="body" idx="1"/>
          </p:nvPr>
        </p:nvSpPr>
        <p:spPr>
          <a:xfrm>
            <a:off x="1103313" y="1905000"/>
            <a:ext cx="4396338"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1103312" y="2514600"/>
            <a:ext cx="4396339" cy="3741738"/>
          </a:xfrm>
        </p:spPr>
        <p:txBody>
          <a:bodyPr>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5654495" y="1905000"/>
            <a:ext cx="4396339"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5654495" y="2514600"/>
            <a:ext cx="4396339" cy="3741738"/>
          </a:xfrm>
        </p:spPr>
        <p:txBody>
          <a:bodyPr>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FB402931-4249-4B2A-92E1-93E6049CAE2F}" type="datetimeFigureOut">
              <a:rPr lang="en-US" smtClean="0"/>
              <a:t>12/12/2025</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72D3E84E-F4FF-4177-9566-0B23E7564616}" type="slidenum">
              <a:rPr lang="en-US" smtClean="0"/>
              <a:t>‹#›</a:t>
            </a:fld>
            <a:endParaRPr lang="en-US"/>
          </a:p>
        </p:txBody>
      </p:sp>
    </p:spTree>
    <p:extLst>
      <p:ext uri="{BB962C8B-B14F-4D97-AF65-F5344CB8AC3E}">
        <p14:creationId xmlns:p14="http://schemas.microsoft.com/office/powerpoint/2010/main" val="1000197333"/>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7" name="Date Placeholder 2"/>
          <p:cNvSpPr>
            <a:spLocks noGrp="1"/>
          </p:cNvSpPr>
          <p:nvPr>
            <p:ph type="dt" sz="half" idx="10"/>
          </p:nvPr>
        </p:nvSpPr>
        <p:spPr/>
        <p:txBody>
          <a:bodyPr/>
          <a:lstStyle/>
          <a:p>
            <a:fld id="{FB402931-4249-4B2A-92E1-93E6049CAE2F}" type="datetimeFigureOut">
              <a:rPr lang="en-US" smtClean="0"/>
              <a:t>12/12/2025</a:t>
            </a:fld>
            <a:endParaRPr lang="en-US"/>
          </a:p>
        </p:txBody>
      </p:sp>
      <p:sp>
        <p:nvSpPr>
          <p:cNvPr id="5" name="Footer Placeholder 3"/>
          <p:cNvSpPr>
            <a:spLocks noGrp="1"/>
          </p:cNvSpPr>
          <p:nvPr>
            <p:ph type="ftr" sz="quarter" idx="11"/>
          </p:nvPr>
        </p:nvSpPr>
        <p:spPr/>
        <p:txBody>
          <a:bodyPr/>
          <a:lstStyle/>
          <a:p>
            <a:endParaRPr lang="en-US"/>
          </a:p>
        </p:txBody>
      </p:sp>
      <p:sp>
        <p:nvSpPr>
          <p:cNvPr id="6" name="Slide Number Placeholder 4"/>
          <p:cNvSpPr>
            <a:spLocks noGrp="1"/>
          </p:cNvSpPr>
          <p:nvPr>
            <p:ph type="sldNum" sz="quarter" idx="12"/>
          </p:nvPr>
        </p:nvSpPr>
        <p:spPr/>
        <p:txBody>
          <a:bodyPr/>
          <a:lstStyle/>
          <a:p>
            <a:fld id="{72D3E84E-F4FF-4177-9566-0B23E7564616}" type="slidenum">
              <a:rPr lang="en-US" smtClean="0"/>
              <a:t>‹#›</a:t>
            </a:fld>
            <a:endParaRPr lang="en-US"/>
          </a:p>
        </p:txBody>
      </p:sp>
    </p:spTree>
    <p:extLst>
      <p:ext uri="{BB962C8B-B14F-4D97-AF65-F5344CB8AC3E}">
        <p14:creationId xmlns:p14="http://schemas.microsoft.com/office/powerpoint/2010/main" val="2158682374"/>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7" name="Date Placeholder 1"/>
          <p:cNvSpPr>
            <a:spLocks noGrp="1"/>
          </p:cNvSpPr>
          <p:nvPr>
            <p:ph type="dt" sz="half" idx="10"/>
          </p:nvPr>
        </p:nvSpPr>
        <p:spPr/>
        <p:txBody>
          <a:bodyPr/>
          <a:lstStyle/>
          <a:p>
            <a:fld id="{FB402931-4249-4B2A-92E1-93E6049CAE2F}" type="datetimeFigureOut">
              <a:rPr lang="en-US" smtClean="0"/>
              <a:t>12/12/2025</a:t>
            </a:fld>
            <a:endParaRPr lang="en-US"/>
          </a:p>
        </p:txBody>
      </p:sp>
      <p:sp>
        <p:nvSpPr>
          <p:cNvPr id="5" name="Footer Placeholder 2"/>
          <p:cNvSpPr>
            <a:spLocks noGrp="1"/>
          </p:cNvSpPr>
          <p:nvPr>
            <p:ph type="ftr" sz="quarter" idx="11"/>
          </p:nvPr>
        </p:nvSpPr>
        <p:spPr/>
        <p:txBody>
          <a:bodyPr/>
          <a:lstStyle/>
          <a:p>
            <a:endParaRPr lang="en-US"/>
          </a:p>
        </p:txBody>
      </p:sp>
      <p:sp>
        <p:nvSpPr>
          <p:cNvPr id="6" name="Slide Number Placeholder 3"/>
          <p:cNvSpPr>
            <a:spLocks noGrp="1"/>
          </p:cNvSpPr>
          <p:nvPr>
            <p:ph type="sldNum" sz="quarter" idx="12"/>
          </p:nvPr>
        </p:nvSpPr>
        <p:spPr/>
        <p:txBody>
          <a:bodyPr/>
          <a:lstStyle/>
          <a:p>
            <a:fld id="{72D3E84E-F4FF-4177-9566-0B23E7564616}" type="slidenum">
              <a:rPr lang="en-US" smtClean="0"/>
              <a:t>‹#›</a:t>
            </a:fld>
            <a:endParaRPr lang="en-US"/>
          </a:p>
        </p:txBody>
      </p:sp>
    </p:spTree>
    <p:extLst>
      <p:ext uri="{BB962C8B-B14F-4D97-AF65-F5344CB8AC3E}">
        <p14:creationId xmlns:p14="http://schemas.microsoft.com/office/powerpoint/2010/main" val="1579570233"/>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154953" y="1447800"/>
            <a:ext cx="3401064" cy="1447800"/>
          </a:xfrm>
        </p:spPr>
        <p:txBody>
          <a:bodyPr anchor="b"/>
          <a:lstStyle>
            <a:lvl1pPr algn="l">
              <a:defRPr sz="2400" b="0"/>
            </a:lvl1pPr>
          </a:lstStyle>
          <a:p>
            <a:r>
              <a:rPr lang="en-US"/>
              <a:t>Click to edit Master title style</a:t>
            </a:r>
            <a:endParaRPr lang="en-US" dirty="0"/>
          </a:p>
        </p:txBody>
      </p:sp>
      <p:sp>
        <p:nvSpPr>
          <p:cNvPr id="3" name="Content Placeholder 2"/>
          <p:cNvSpPr>
            <a:spLocks noGrp="1"/>
          </p:cNvSpPr>
          <p:nvPr>
            <p:ph idx="1"/>
          </p:nvPr>
        </p:nvSpPr>
        <p:spPr>
          <a:xfrm>
            <a:off x="4784616" y="1447800"/>
            <a:ext cx="5195997" cy="4572000"/>
          </a:xfrm>
        </p:spPr>
        <p:txBody>
          <a:bodyPr anchor="ctr">
            <a:normAutofit/>
          </a:bodyPr>
          <a:lstStyle>
            <a:lvl1pPr>
              <a:defRPr sz="2000"/>
            </a:lvl1pPr>
            <a:lvl2pPr>
              <a:defRPr sz="1800"/>
            </a:lvl2pPr>
            <a:lvl3pPr>
              <a:defRPr sz="1600"/>
            </a:lvl3pPr>
            <a:lvl4pPr>
              <a:defRPr sz="1400"/>
            </a:lvl4pPr>
            <a:lvl5pPr>
              <a:defRPr sz="1400"/>
            </a:lvl5pPr>
            <a:lvl6pPr>
              <a:defRPr sz="1400"/>
            </a:lvl6pPr>
            <a:lvl7pPr>
              <a:defRPr sz="1400"/>
            </a:lvl7pPr>
            <a:lvl8pPr>
              <a:defRPr sz="1400"/>
            </a:lvl8pPr>
            <a:lvl9pPr>
              <a:defRPr sz="14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1154953" y="3129280"/>
            <a:ext cx="3401063" cy="2895599"/>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7" name="Date Placeholder 4"/>
          <p:cNvSpPr>
            <a:spLocks noGrp="1"/>
          </p:cNvSpPr>
          <p:nvPr>
            <p:ph type="dt" sz="half" idx="10"/>
          </p:nvPr>
        </p:nvSpPr>
        <p:spPr/>
        <p:txBody>
          <a:bodyPr/>
          <a:lstStyle/>
          <a:p>
            <a:fld id="{FB402931-4249-4B2A-92E1-93E6049CAE2F}" type="datetimeFigureOut">
              <a:rPr lang="en-US" smtClean="0"/>
              <a:t>12/12/2025</a:t>
            </a:fld>
            <a:endParaRPr lang="en-US"/>
          </a:p>
        </p:txBody>
      </p:sp>
      <p:sp>
        <p:nvSpPr>
          <p:cNvPr id="5" name="Footer Placeholder 5"/>
          <p:cNvSpPr>
            <a:spLocks noGrp="1"/>
          </p:cNvSpPr>
          <p:nvPr>
            <p:ph type="ftr" sz="quarter" idx="11"/>
          </p:nvPr>
        </p:nvSpPr>
        <p:spPr/>
        <p:txBody>
          <a:bodyPr/>
          <a:lstStyle/>
          <a:p>
            <a:endParaRPr lang="en-US"/>
          </a:p>
        </p:txBody>
      </p:sp>
      <p:sp>
        <p:nvSpPr>
          <p:cNvPr id="6" name="Slide Number Placeholder 6"/>
          <p:cNvSpPr>
            <a:spLocks noGrp="1"/>
          </p:cNvSpPr>
          <p:nvPr>
            <p:ph type="sldNum" sz="quarter" idx="12"/>
          </p:nvPr>
        </p:nvSpPr>
        <p:spPr/>
        <p:txBody>
          <a:bodyPr/>
          <a:lstStyle/>
          <a:p>
            <a:fld id="{72D3E84E-F4FF-4177-9566-0B23E7564616}" type="slidenum">
              <a:rPr lang="en-US" smtClean="0"/>
              <a:t>‹#›</a:t>
            </a:fld>
            <a:endParaRPr lang="en-US"/>
          </a:p>
        </p:txBody>
      </p:sp>
    </p:spTree>
    <p:extLst>
      <p:ext uri="{BB962C8B-B14F-4D97-AF65-F5344CB8AC3E}">
        <p14:creationId xmlns:p14="http://schemas.microsoft.com/office/powerpoint/2010/main" val="245937575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153907" y="1854192"/>
            <a:ext cx="5092906" cy="1574808"/>
          </a:xfrm>
        </p:spPr>
        <p:txBody>
          <a:bodyPr anchor="b">
            <a:normAutofit/>
          </a:bodyPr>
          <a:lstStyle>
            <a:lvl1pPr algn="l">
              <a:defRPr sz="36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6949546" y="1143000"/>
            <a:ext cx="3200400" cy="457200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1154954" y="3657600"/>
            <a:ext cx="5084979" cy="1371600"/>
          </a:xfrm>
        </p:spPr>
        <p:txBody>
          <a:bodyPr>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FB402931-4249-4B2A-92E1-93E6049CAE2F}" type="datetimeFigureOut">
              <a:rPr lang="en-US" smtClean="0"/>
              <a:t>12/12/2025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72D3E84E-F4FF-4177-9566-0B23E7564616}" type="slidenum">
              <a:rPr lang="en-US" smtClean="0"/>
              <a:t>‹#›</a:t>
            </a:fld>
            <a:endParaRPr lang="en-US"/>
          </a:p>
        </p:txBody>
      </p:sp>
    </p:spTree>
    <p:extLst>
      <p:ext uri="{BB962C8B-B14F-4D97-AF65-F5344CB8AC3E}">
        <p14:creationId xmlns:p14="http://schemas.microsoft.com/office/powerpoint/2010/main" val="25367598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Panoramic 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154956" y="4800587"/>
            <a:ext cx="8825657" cy="566738"/>
          </a:xfrm>
        </p:spPr>
        <p:txBody>
          <a:bodyPr anchor="b">
            <a:normAutofit/>
          </a:bodyPr>
          <a:lstStyle>
            <a:lvl1pPr algn="l">
              <a:defRPr sz="24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1154955" y="685800"/>
            <a:ext cx="8825658" cy="3640666"/>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1154956" y="5367325"/>
            <a:ext cx="8825656" cy="493712"/>
          </a:xfrm>
        </p:spPr>
        <p:txBody>
          <a:bodyPr>
            <a:normAutofit/>
          </a:bodyPr>
          <a:lstStyle>
            <a:lvl1pPr marL="0" indent="0">
              <a:buNone/>
              <a:defRPr sz="12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FB402931-4249-4B2A-92E1-93E6049CAE2F}" type="datetimeFigureOut">
              <a:rPr lang="en-US" smtClean="0"/>
              <a:t>12/12/2025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72D3E84E-F4FF-4177-9566-0B23E7564616}" type="slidenum">
              <a:rPr lang="en-US" smtClean="0"/>
              <a:t>‹#›</a:t>
            </a:fld>
            <a:endParaRPr lang="en-US"/>
          </a:p>
        </p:txBody>
      </p:sp>
    </p:spTree>
    <p:extLst>
      <p:ext uri="{BB962C8B-B14F-4D97-AF65-F5344CB8AC3E}">
        <p14:creationId xmlns:p14="http://schemas.microsoft.com/office/powerpoint/2010/main" val="1205446429"/>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1154954" y="1447800"/>
            <a:ext cx="8825659" cy="1981200"/>
          </a:xfrm>
        </p:spPr>
        <p:txBody>
          <a:bodyPr/>
          <a:lstStyle>
            <a:lvl1pPr>
              <a:defRPr sz="4800"/>
            </a:lvl1pPr>
          </a:lstStyle>
          <a:p>
            <a:r>
              <a:rPr lang="en-US"/>
              <a:t>Click to edit Master title style</a:t>
            </a:r>
            <a:endParaRPr lang="en-US" dirty="0"/>
          </a:p>
        </p:txBody>
      </p:sp>
      <p:sp>
        <p:nvSpPr>
          <p:cNvPr id="8" name="Text Placeholder 3"/>
          <p:cNvSpPr>
            <a:spLocks noGrp="1"/>
          </p:cNvSpPr>
          <p:nvPr>
            <p:ph type="body" sz="half" idx="2"/>
          </p:nvPr>
        </p:nvSpPr>
        <p:spPr>
          <a:xfrm>
            <a:off x="1154954" y="3657600"/>
            <a:ext cx="8825659" cy="2362200"/>
          </a:xfrm>
        </p:spPr>
        <p:txBody>
          <a:bodyPr anchor="ctr">
            <a:normAutofit/>
          </a:bodyPr>
          <a:lstStyle>
            <a:lvl1pPr marL="0" indent="0">
              <a:buNone/>
              <a:defRPr sz="18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4" name="Date Placeholder 3"/>
          <p:cNvSpPr>
            <a:spLocks noGrp="1"/>
          </p:cNvSpPr>
          <p:nvPr>
            <p:ph type="dt" sz="half" idx="10"/>
          </p:nvPr>
        </p:nvSpPr>
        <p:spPr/>
        <p:txBody>
          <a:bodyPr/>
          <a:lstStyle/>
          <a:p>
            <a:fld id="{FB402931-4249-4B2A-92E1-93E6049CAE2F}" type="datetimeFigureOut">
              <a:rPr lang="en-US" smtClean="0"/>
              <a:t>12/12/2025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72D3E84E-F4FF-4177-9566-0B23E7564616}" type="slidenum">
              <a:rPr lang="en-US" smtClean="0"/>
              <a:t>‹#›</a:t>
            </a:fld>
            <a:endParaRPr lang="en-US"/>
          </a:p>
        </p:txBody>
      </p:sp>
    </p:spTree>
    <p:extLst>
      <p:ext uri="{BB962C8B-B14F-4D97-AF65-F5344CB8AC3E}">
        <p14:creationId xmlns:p14="http://schemas.microsoft.com/office/powerpoint/2010/main" val="3914095266"/>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574801" y="1447800"/>
            <a:ext cx="7999315" cy="2323374"/>
          </a:xfrm>
        </p:spPr>
        <p:txBody>
          <a:bodyPr/>
          <a:lstStyle>
            <a:lvl1pPr>
              <a:defRPr sz="4800"/>
            </a:lvl1pPr>
          </a:lstStyle>
          <a:p>
            <a:r>
              <a:rPr lang="en-US"/>
              <a:t>Click to edit Master title style</a:t>
            </a:r>
            <a:endParaRPr lang="en-US" dirty="0"/>
          </a:p>
        </p:txBody>
      </p:sp>
      <p:sp>
        <p:nvSpPr>
          <p:cNvPr id="11" name="Text Placeholder 3"/>
          <p:cNvSpPr>
            <a:spLocks noGrp="1"/>
          </p:cNvSpPr>
          <p:nvPr>
            <p:ph type="body" sz="half" idx="14"/>
          </p:nvPr>
        </p:nvSpPr>
        <p:spPr>
          <a:xfrm>
            <a:off x="1930400" y="3771174"/>
            <a:ext cx="7279649" cy="342174"/>
          </a:xfrm>
        </p:spPr>
        <p:txBody>
          <a:bodyPr vert="horz" lIns="91440" tIns="45720" rIns="91440" bIns="45720" rtlCol="0" anchor="t">
            <a:normAutofit/>
          </a:bodyPr>
          <a:lstStyle>
            <a:lvl1pPr marL="0" indent="0">
              <a:buNone/>
              <a:defRPr lang="en-US" sz="1400" b="0" i="0" kern="1200" cap="small" dirty="0">
                <a:solidFill>
                  <a:schemeClr val="bg2">
                    <a:lumMod val="40000"/>
                    <a:lumOff val="60000"/>
                  </a:schemeClr>
                </a:solidFill>
                <a:latin typeface="+mj-lt"/>
                <a:ea typeface="+mj-ea"/>
                <a:cs typeface="+mj-cs"/>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marL="0" lvl="0" indent="0">
              <a:buNone/>
            </a:pPr>
            <a:r>
              <a:rPr lang="en-US"/>
              <a:t>Click to edit Master text styles</a:t>
            </a:r>
          </a:p>
        </p:txBody>
      </p:sp>
      <p:sp>
        <p:nvSpPr>
          <p:cNvPr id="10" name="Text Placeholder 3"/>
          <p:cNvSpPr>
            <a:spLocks noGrp="1"/>
          </p:cNvSpPr>
          <p:nvPr>
            <p:ph type="body" sz="half" idx="2"/>
          </p:nvPr>
        </p:nvSpPr>
        <p:spPr>
          <a:xfrm>
            <a:off x="1154954" y="4350657"/>
            <a:ext cx="8825659" cy="1676400"/>
          </a:xfrm>
        </p:spPr>
        <p:txBody>
          <a:bodyPr anchor="ctr">
            <a:normAutofit/>
          </a:bodyPr>
          <a:lstStyle>
            <a:lvl1pPr marL="0" indent="0">
              <a:buNone/>
              <a:defRPr sz="18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4" name="Date Placeholder 3"/>
          <p:cNvSpPr>
            <a:spLocks noGrp="1"/>
          </p:cNvSpPr>
          <p:nvPr>
            <p:ph type="dt" sz="half" idx="10"/>
          </p:nvPr>
        </p:nvSpPr>
        <p:spPr/>
        <p:txBody>
          <a:bodyPr/>
          <a:lstStyle/>
          <a:p>
            <a:fld id="{FB402931-4249-4B2A-92E1-93E6049CAE2F}" type="datetimeFigureOut">
              <a:rPr lang="en-US" smtClean="0"/>
              <a:t>12/12/2025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72D3E84E-F4FF-4177-9566-0B23E7564616}" type="slidenum">
              <a:rPr lang="en-US" smtClean="0"/>
              <a:t>‹#›</a:t>
            </a:fld>
            <a:endParaRPr lang="en-US"/>
          </a:p>
        </p:txBody>
      </p:sp>
      <p:sp>
        <p:nvSpPr>
          <p:cNvPr id="12" name="TextBox 11"/>
          <p:cNvSpPr txBox="1"/>
          <p:nvPr/>
        </p:nvSpPr>
        <p:spPr>
          <a:xfrm>
            <a:off x="898295" y="971253"/>
            <a:ext cx="801912" cy="1969770"/>
          </a:xfrm>
          <a:prstGeom prst="rect">
            <a:avLst/>
          </a:prstGeom>
          <a:noFill/>
        </p:spPr>
        <p:txBody>
          <a:bodyPr wrap="square" rtlCol="0">
            <a:spAutoFit/>
          </a:bodyPr>
          <a:lstStyle>
            <a:defPPr>
              <a:defRPr lang="en-US"/>
            </a:defPPr>
            <a:lvl1pPr algn="r">
              <a:defRPr sz="12200" b="0" i="0">
                <a:solidFill>
                  <a:schemeClr val="bg2">
                    <a:lumMod val="40000"/>
                    <a:lumOff val="60000"/>
                  </a:schemeClr>
                </a:solidFill>
                <a:latin typeface="Arial"/>
                <a:ea typeface="+mj-ea"/>
                <a:cs typeface="+mj-cs"/>
              </a:defRPr>
            </a:lvl1pPr>
          </a:lstStyle>
          <a:p>
            <a:pPr lvl="0"/>
            <a:r>
              <a:rPr lang="en-US" dirty="0"/>
              <a:t>“</a:t>
            </a:r>
          </a:p>
        </p:txBody>
      </p:sp>
      <p:sp>
        <p:nvSpPr>
          <p:cNvPr id="15" name="TextBox 14"/>
          <p:cNvSpPr txBox="1"/>
          <p:nvPr/>
        </p:nvSpPr>
        <p:spPr>
          <a:xfrm>
            <a:off x="9330490" y="2613787"/>
            <a:ext cx="801912" cy="1969770"/>
          </a:xfrm>
          <a:prstGeom prst="rect">
            <a:avLst/>
          </a:prstGeom>
          <a:noFill/>
        </p:spPr>
        <p:txBody>
          <a:bodyPr wrap="square" rtlCol="0">
            <a:spAutoFit/>
          </a:bodyPr>
          <a:lstStyle>
            <a:defPPr>
              <a:defRPr lang="en-US"/>
            </a:defPPr>
            <a:lvl1pPr algn="r">
              <a:defRPr sz="12200" b="0" i="0">
                <a:solidFill>
                  <a:schemeClr val="bg2">
                    <a:lumMod val="40000"/>
                    <a:lumOff val="60000"/>
                  </a:schemeClr>
                </a:solidFill>
                <a:latin typeface="Arial"/>
                <a:ea typeface="+mj-ea"/>
                <a:cs typeface="+mj-cs"/>
              </a:defRPr>
            </a:lvl1pPr>
          </a:lstStyle>
          <a:p>
            <a:pPr lvl="0"/>
            <a:r>
              <a:rPr lang="en-US" dirty="0"/>
              <a:t>”</a:t>
            </a:r>
          </a:p>
        </p:txBody>
      </p:sp>
    </p:spTree>
    <p:extLst>
      <p:ext uri="{BB962C8B-B14F-4D97-AF65-F5344CB8AC3E}">
        <p14:creationId xmlns:p14="http://schemas.microsoft.com/office/powerpoint/2010/main" val="3330372998"/>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1154954" y="3124201"/>
            <a:ext cx="8825660" cy="1653180"/>
          </a:xfrm>
        </p:spPr>
        <p:txBody>
          <a:bodyPr anchor="b"/>
          <a:lstStyle>
            <a:lvl1pPr algn="l">
              <a:defRPr sz="4000" b="0" cap="none"/>
            </a:lvl1pPr>
          </a:lstStyle>
          <a:p>
            <a:r>
              <a:rPr lang="en-US"/>
              <a:t>Click to edit Master title style</a:t>
            </a:r>
            <a:endParaRPr lang="en-US" dirty="0"/>
          </a:p>
        </p:txBody>
      </p:sp>
      <p:sp>
        <p:nvSpPr>
          <p:cNvPr id="3" name="Text Placeholder 2"/>
          <p:cNvSpPr>
            <a:spLocks noGrp="1"/>
          </p:cNvSpPr>
          <p:nvPr>
            <p:ph type="body" idx="1"/>
          </p:nvPr>
        </p:nvSpPr>
        <p:spPr>
          <a:xfrm>
            <a:off x="1154954" y="4777381"/>
            <a:ext cx="8825659" cy="860400"/>
          </a:xfrm>
        </p:spPr>
        <p:txBody>
          <a:bodyPr anchor="t"/>
          <a:lstStyle>
            <a:lvl1pPr marL="0" indent="0" algn="l">
              <a:buNone/>
              <a:defRPr sz="2000" cap="none">
                <a:solidFill>
                  <a:schemeClr val="bg2">
                    <a:lumMod val="40000"/>
                    <a:lumOff val="6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FB402931-4249-4B2A-92E1-93E6049CAE2F}" type="datetimeFigureOut">
              <a:rPr lang="en-US" smtClean="0"/>
              <a:t>12/12/2025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72D3E84E-F4FF-4177-9566-0B23E7564616}" type="slidenum">
              <a:rPr lang="en-US" smtClean="0"/>
              <a:t>‹#›</a:t>
            </a:fld>
            <a:endParaRPr lang="en-US"/>
          </a:p>
        </p:txBody>
      </p:sp>
    </p:spTree>
    <p:extLst>
      <p:ext uri="{BB962C8B-B14F-4D97-AF65-F5344CB8AC3E}">
        <p14:creationId xmlns:p14="http://schemas.microsoft.com/office/powerpoint/2010/main" val="3352327140"/>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3 Colum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sz="4200"/>
            </a:lvl1pPr>
          </a:lstStyle>
          <a:p>
            <a:r>
              <a:rPr lang="en-US"/>
              <a:t>Click to edit Master title style</a:t>
            </a:r>
            <a:endParaRPr lang="en-US" dirty="0"/>
          </a:p>
        </p:txBody>
      </p:sp>
      <p:sp>
        <p:nvSpPr>
          <p:cNvPr id="3" name="Text Placeholder 2"/>
          <p:cNvSpPr>
            <a:spLocks noGrp="1"/>
          </p:cNvSpPr>
          <p:nvPr>
            <p:ph type="body" idx="1"/>
          </p:nvPr>
        </p:nvSpPr>
        <p:spPr>
          <a:xfrm>
            <a:off x="632947" y="1981200"/>
            <a:ext cx="2946866"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6" name="Text Placeholder 3"/>
          <p:cNvSpPr>
            <a:spLocks noGrp="1"/>
          </p:cNvSpPr>
          <p:nvPr>
            <p:ph type="body" sz="half" idx="15"/>
          </p:nvPr>
        </p:nvSpPr>
        <p:spPr>
          <a:xfrm>
            <a:off x="652463" y="2667000"/>
            <a:ext cx="2927350" cy="3589338"/>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Text Placeholder 4"/>
          <p:cNvSpPr>
            <a:spLocks noGrp="1"/>
          </p:cNvSpPr>
          <p:nvPr>
            <p:ph type="body" sz="quarter" idx="3"/>
          </p:nvPr>
        </p:nvSpPr>
        <p:spPr>
          <a:xfrm>
            <a:off x="3883659" y="1981200"/>
            <a:ext cx="2936241"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9" name="Text Placeholder 3"/>
          <p:cNvSpPr>
            <a:spLocks noGrp="1"/>
          </p:cNvSpPr>
          <p:nvPr>
            <p:ph type="body" sz="half" idx="16"/>
          </p:nvPr>
        </p:nvSpPr>
        <p:spPr>
          <a:xfrm>
            <a:off x="3873106" y="2667000"/>
            <a:ext cx="2946794" cy="3589338"/>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14" name="Text Placeholder 4"/>
          <p:cNvSpPr>
            <a:spLocks noGrp="1"/>
          </p:cNvSpPr>
          <p:nvPr>
            <p:ph type="body" sz="quarter" idx="13"/>
          </p:nvPr>
        </p:nvSpPr>
        <p:spPr>
          <a:xfrm>
            <a:off x="7124700" y="1981200"/>
            <a:ext cx="2932113"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20" name="Text Placeholder 3"/>
          <p:cNvSpPr>
            <a:spLocks noGrp="1"/>
          </p:cNvSpPr>
          <p:nvPr>
            <p:ph type="body" sz="half" idx="17"/>
          </p:nvPr>
        </p:nvSpPr>
        <p:spPr>
          <a:xfrm>
            <a:off x="7124700" y="2667000"/>
            <a:ext cx="2932113" cy="3589338"/>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cxnSp>
        <p:nvCxnSpPr>
          <p:cNvPr id="17" name="Straight Connector 16"/>
          <p:cNvCxnSpPr/>
          <p:nvPr/>
        </p:nvCxnSpPr>
        <p:spPr>
          <a:xfrm>
            <a:off x="3726142" y="2133600"/>
            <a:ext cx="0" cy="3962400"/>
          </a:xfrm>
          <a:prstGeom prst="line">
            <a:avLst/>
          </a:prstGeom>
          <a:ln w="12700" cmpd="sng">
            <a:solidFill>
              <a:schemeClr val="bg2">
                <a:lumMod val="40000"/>
                <a:lumOff val="60000"/>
                <a:alpha val="40000"/>
              </a:schemeClr>
            </a:solidFill>
          </a:ln>
        </p:spPr>
        <p:style>
          <a:lnRef idx="2">
            <a:schemeClr val="accent1"/>
          </a:lnRef>
          <a:fillRef idx="0">
            <a:schemeClr val="accent1"/>
          </a:fillRef>
          <a:effectRef idx="1">
            <a:schemeClr val="accent1"/>
          </a:effectRef>
          <a:fontRef idx="minor">
            <a:schemeClr val="tx1"/>
          </a:fontRef>
        </p:style>
      </p:cxnSp>
      <p:cxnSp>
        <p:nvCxnSpPr>
          <p:cNvPr id="18" name="Straight Connector 17"/>
          <p:cNvCxnSpPr/>
          <p:nvPr/>
        </p:nvCxnSpPr>
        <p:spPr>
          <a:xfrm>
            <a:off x="6962227" y="2133600"/>
            <a:ext cx="0" cy="3966882"/>
          </a:xfrm>
          <a:prstGeom prst="line">
            <a:avLst/>
          </a:prstGeom>
          <a:ln w="12700" cmpd="sng">
            <a:solidFill>
              <a:schemeClr val="bg2">
                <a:lumMod val="40000"/>
                <a:lumOff val="60000"/>
                <a:alpha val="40000"/>
              </a:schemeClr>
            </a:solidFill>
          </a:ln>
        </p:spPr>
        <p:style>
          <a:lnRef idx="2">
            <a:schemeClr val="accent1"/>
          </a:lnRef>
          <a:fillRef idx="0">
            <a:schemeClr val="accent1"/>
          </a:fillRef>
          <a:effectRef idx="1">
            <a:schemeClr val="accent1"/>
          </a:effectRef>
          <a:fontRef idx="minor">
            <a:schemeClr val="tx1"/>
          </a:fontRef>
        </p:style>
      </p:cxnSp>
      <p:sp>
        <p:nvSpPr>
          <p:cNvPr id="7" name="Date Placeholder 3"/>
          <p:cNvSpPr>
            <a:spLocks noGrp="1"/>
          </p:cNvSpPr>
          <p:nvPr>
            <p:ph type="dt" sz="half" idx="10"/>
          </p:nvPr>
        </p:nvSpPr>
        <p:spPr/>
        <p:txBody>
          <a:bodyPr/>
          <a:lstStyle/>
          <a:p>
            <a:fld id="{FB402931-4249-4B2A-92E1-93E6049CAE2F}" type="datetimeFigureOut">
              <a:rPr lang="en-US" smtClean="0"/>
              <a:t>12/12/2025</a:t>
            </a:fld>
            <a:endParaRPr lang="en-US"/>
          </a:p>
        </p:txBody>
      </p:sp>
      <p:sp>
        <p:nvSpPr>
          <p:cNvPr id="4"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72D3E84E-F4FF-4177-9566-0B23E7564616}" type="slidenum">
              <a:rPr lang="en-US" smtClean="0"/>
              <a:t>‹#›</a:t>
            </a:fld>
            <a:endParaRPr lang="en-US"/>
          </a:p>
        </p:txBody>
      </p:sp>
    </p:spTree>
    <p:extLst>
      <p:ext uri="{BB962C8B-B14F-4D97-AF65-F5344CB8AC3E}">
        <p14:creationId xmlns:p14="http://schemas.microsoft.com/office/powerpoint/2010/main" val="243583555"/>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3 Picture Colum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sz="4200"/>
            </a:lvl1pPr>
          </a:lstStyle>
          <a:p>
            <a:r>
              <a:rPr lang="en-US"/>
              <a:t>Click to edit Master title style</a:t>
            </a:r>
            <a:endParaRPr lang="en-US" dirty="0"/>
          </a:p>
        </p:txBody>
      </p:sp>
      <p:sp>
        <p:nvSpPr>
          <p:cNvPr id="3" name="Text Placeholder 2"/>
          <p:cNvSpPr>
            <a:spLocks noGrp="1"/>
          </p:cNvSpPr>
          <p:nvPr>
            <p:ph type="body" idx="1"/>
          </p:nvPr>
        </p:nvSpPr>
        <p:spPr>
          <a:xfrm>
            <a:off x="652463" y="4250949"/>
            <a:ext cx="2940050"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29" name="Picture Placeholder 2"/>
          <p:cNvSpPr>
            <a:spLocks noGrp="1" noChangeAspect="1"/>
          </p:cNvSpPr>
          <p:nvPr>
            <p:ph type="pic" idx="15"/>
          </p:nvPr>
        </p:nvSpPr>
        <p:spPr>
          <a:xfrm>
            <a:off x="652463" y="2209800"/>
            <a:ext cx="2940050" cy="152400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22" name="Text Placeholder 3"/>
          <p:cNvSpPr>
            <a:spLocks noGrp="1"/>
          </p:cNvSpPr>
          <p:nvPr>
            <p:ph type="body" sz="half" idx="18"/>
          </p:nvPr>
        </p:nvSpPr>
        <p:spPr>
          <a:xfrm>
            <a:off x="652463" y="4827211"/>
            <a:ext cx="2940050" cy="659189"/>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Text Placeholder 4"/>
          <p:cNvSpPr>
            <a:spLocks noGrp="1"/>
          </p:cNvSpPr>
          <p:nvPr>
            <p:ph type="body" sz="quarter" idx="3"/>
          </p:nvPr>
        </p:nvSpPr>
        <p:spPr>
          <a:xfrm>
            <a:off x="3889375" y="4250949"/>
            <a:ext cx="2930525"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30" name="Picture Placeholder 2"/>
          <p:cNvSpPr>
            <a:spLocks noGrp="1" noChangeAspect="1"/>
          </p:cNvSpPr>
          <p:nvPr>
            <p:ph type="pic" idx="21"/>
          </p:nvPr>
        </p:nvSpPr>
        <p:spPr>
          <a:xfrm>
            <a:off x="3889374" y="2209800"/>
            <a:ext cx="2930525" cy="152400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23" name="Text Placeholder 3"/>
          <p:cNvSpPr>
            <a:spLocks noGrp="1"/>
          </p:cNvSpPr>
          <p:nvPr>
            <p:ph type="body" sz="half" idx="19"/>
          </p:nvPr>
        </p:nvSpPr>
        <p:spPr>
          <a:xfrm>
            <a:off x="3888022" y="4827210"/>
            <a:ext cx="2934406" cy="659189"/>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14" name="Text Placeholder 4"/>
          <p:cNvSpPr>
            <a:spLocks noGrp="1"/>
          </p:cNvSpPr>
          <p:nvPr>
            <p:ph type="body" sz="quarter" idx="13"/>
          </p:nvPr>
        </p:nvSpPr>
        <p:spPr>
          <a:xfrm>
            <a:off x="7124700" y="4250949"/>
            <a:ext cx="2932113"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31" name="Picture Placeholder 2"/>
          <p:cNvSpPr>
            <a:spLocks noGrp="1" noChangeAspect="1"/>
          </p:cNvSpPr>
          <p:nvPr>
            <p:ph type="pic" idx="22"/>
          </p:nvPr>
        </p:nvSpPr>
        <p:spPr>
          <a:xfrm>
            <a:off x="7124699" y="2209800"/>
            <a:ext cx="2932113" cy="152400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24" name="Text Placeholder 3"/>
          <p:cNvSpPr>
            <a:spLocks noGrp="1"/>
          </p:cNvSpPr>
          <p:nvPr>
            <p:ph type="body" sz="half" idx="20"/>
          </p:nvPr>
        </p:nvSpPr>
        <p:spPr>
          <a:xfrm>
            <a:off x="7124575" y="4827208"/>
            <a:ext cx="2935997" cy="659189"/>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cxnSp>
        <p:nvCxnSpPr>
          <p:cNvPr id="19" name="Straight Connector 18"/>
          <p:cNvCxnSpPr/>
          <p:nvPr/>
        </p:nvCxnSpPr>
        <p:spPr>
          <a:xfrm>
            <a:off x="3726142" y="2133600"/>
            <a:ext cx="0" cy="3962400"/>
          </a:xfrm>
          <a:prstGeom prst="line">
            <a:avLst/>
          </a:prstGeom>
          <a:ln w="12700" cmpd="sng">
            <a:solidFill>
              <a:schemeClr val="bg2">
                <a:lumMod val="40000"/>
                <a:lumOff val="60000"/>
                <a:alpha val="40000"/>
              </a:schemeClr>
            </a:solidFill>
          </a:ln>
        </p:spPr>
        <p:style>
          <a:lnRef idx="2">
            <a:schemeClr val="accent1"/>
          </a:lnRef>
          <a:fillRef idx="0">
            <a:schemeClr val="accent1"/>
          </a:fillRef>
          <a:effectRef idx="1">
            <a:schemeClr val="accent1"/>
          </a:effectRef>
          <a:fontRef idx="minor">
            <a:schemeClr val="tx1"/>
          </a:fontRef>
        </p:style>
      </p:cxnSp>
      <p:cxnSp>
        <p:nvCxnSpPr>
          <p:cNvPr id="20" name="Straight Connector 19"/>
          <p:cNvCxnSpPr/>
          <p:nvPr/>
        </p:nvCxnSpPr>
        <p:spPr>
          <a:xfrm>
            <a:off x="6962227" y="2133600"/>
            <a:ext cx="0" cy="3966882"/>
          </a:xfrm>
          <a:prstGeom prst="line">
            <a:avLst/>
          </a:prstGeom>
          <a:ln w="12700" cmpd="sng">
            <a:solidFill>
              <a:schemeClr val="bg2">
                <a:lumMod val="40000"/>
                <a:lumOff val="60000"/>
                <a:alpha val="40000"/>
              </a:schemeClr>
            </a:solidFill>
          </a:ln>
        </p:spPr>
        <p:style>
          <a:lnRef idx="2">
            <a:schemeClr val="accent1"/>
          </a:lnRef>
          <a:fillRef idx="0">
            <a:schemeClr val="accent1"/>
          </a:fillRef>
          <a:effectRef idx="1">
            <a:schemeClr val="accent1"/>
          </a:effectRef>
          <a:fontRef idx="minor">
            <a:schemeClr val="tx1"/>
          </a:fontRef>
        </p:style>
      </p:cxnSp>
      <p:sp>
        <p:nvSpPr>
          <p:cNvPr id="7" name="Date Placeholder 3"/>
          <p:cNvSpPr>
            <a:spLocks noGrp="1"/>
          </p:cNvSpPr>
          <p:nvPr>
            <p:ph type="dt" sz="half" idx="10"/>
          </p:nvPr>
        </p:nvSpPr>
        <p:spPr/>
        <p:txBody>
          <a:bodyPr/>
          <a:lstStyle/>
          <a:p>
            <a:fld id="{FB402931-4249-4B2A-92E1-93E6049CAE2F}" type="datetimeFigureOut">
              <a:rPr lang="en-US" smtClean="0"/>
              <a:t>12/12/2025</a:t>
            </a:fld>
            <a:endParaRPr lang="en-US"/>
          </a:p>
        </p:txBody>
      </p:sp>
      <p:sp>
        <p:nvSpPr>
          <p:cNvPr id="4"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72D3E84E-F4FF-4177-9566-0B23E7564616}" type="slidenum">
              <a:rPr lang="en-US" smtClean="0"/>
              <a:t>‹#›</a:t>
            </a:fld>
            <a:endParaRPr lang="en-US"/>
          </a:p>
        </p:txBody>
      </p:sp>
    </p:spTree>
    <p:extLst>
      <p:ext uri="{BB962C8B-B14F-4D97-AF65-F5344CB8AC3E}">
        <p14:creationId xmlns:p14="http://schemas.microsoft.com/office/powerpoint/2010/main" val="2247717934"/>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nchor="t" anchorCtr="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FB402931-4249-4B2A-92E1-93E6049CAE2F}" type="datetimeFigureOut">
              <a:rPr lang="en-US" smtClean="0"/>
              <a:t>12/12/2025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72D3E84E-F4FF-4177-9566-0B23E7564616}" type="slidenum">
              <a:rPr lang="en-US" smtClean="0"/>
              <a:t>‹#›</a:t>
            </a:fld>
            <a:endParaRPr lang="en-US"/>
          </a:p>
        </p:txBody>
      </p:sp>
    </p:spTree>
    <p:extLst>
      <p:ext uri="{BB962C8B-B14F-4D97-AF65-F5344CB8AC3E}">
        <p14:creationId xmlns:p14="http://schemas.microsoft.com/office/powerpoint/2010/main" val="3781008493"/>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304212" y="430213"/>
            <a:ext cx="1752601" cy="5826125"/>
          </a:xfrm>
        </p:spPr>
        <p:txBody>
          <a:bodyPr vert="eaVert" anchor="b" anchorCtr="0"/>
          <a:lstStyle/>
          <a:p>
            <a:r>
              <a:rPr lang="en-US"/>
              <a:t>Click to edit Master title style</a:t>
            </a:r>
            <a:endParaRPr lang="en-US" dirty="0"/>
          </a:p>
        </p:txBody>
      </p:sp>
      <p:sp>
        <p:nvSpPr>
          <p:cNvPr id="3" name="Vertical Text Placeholder 2"/>
          <p:cNvSpPr>
            <a:spLocks noGrp="1"/>
          </p:cNvSpPr>
          <p:nvPr>
            <p:ph type="body" orient="vert" idx="1"/>
          </p:nvPr>
        </p:nvSpPr>
        <p:spPr>
          <a:xfrm>
            <a:off x="652463" y="887414"/>
            <a:ext cx="7423149" cy="5368924"/>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FB402931-4249-4B2A-92E1-93E6049CAE2F}" type="datetimeFigureOut">
              <a:rPr lang="en-US" smtClean="0"/>
              <a:t>12/12/2025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72D3E84E-F4FF-4177-9566-0B23E7564616}" type="slidenum">
              <a:rPr lang="en-US" smtClean="0"/>
              <a:t>‹#›</a:t>
            </a:fld>
            <a:endParaRPr lang="en-US"/>
          </a:p>
        </p:txBody>
      </p:sp>
    </p:spTree>
    <p:extLst>
      <p:ext uri="{BB962C8B-B14F-4D97-AF65-F5344CB8AC3E}">
        <p14:creationId xmlns:p14="http://schemas.microsoft.com/office/powerpoint/2010/main" val="392677248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21" Type="http://schemas.openxmlformats.org/officeDocument/2006/relationships/image" Target="../media/image4.png"/><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image" Target="../media/image3.png"/><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image" Target="../media/image2.png"/><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image" Target="../media/image5.pn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2"/>
      </p:bgRef>
    </p:bg>
    <p:spTree>
      <p:nvGrpSpPr>
        <p:cNvPr id="1" name=""/>
        <p:cNvGrpSpPr/>
        <p:nvPr/>
      </p:nvGrpSpPr>
      <p:grpSpPr>
        <a:xfrm>
          <a:off x="0" y="0"/>
          <a:ext cx="0" cy="0"/>
          <a:chOff x="0" y="0"/>
          <a:chExt cx="0" cy="0"/>
        </a:xfrm>
      </p:grpSpPr>
      <p:pic>
        <p:nvPicPr>
          <p:cNvPr id="8" name="Picture 7"/>
          <p:cNvPicPr>
            <a:picLocks noChangeAspect="1"/>
          </p:cNvPicPr>
          <p:nvPr/>
        </p:nvPicPr>
        <p:blipFill rotWithShape="1">
          <a:blip r:embed="rId19">
            <a:extLst>
              <a:ext uri="{28A0092B-C50C-407E-A947-70E740481C1C}">
                <a14:useLocalDpi xmlns:a14="http://schemas.microsoft.com/office/drawing/2010/main" val="0"/>
              </a:ext>
            </a:extLst>
          </a:blip>
          <a:srcRect l="3613"/>
          <a:stretch/>
        </p:blipFill>
        <p:spPr>
          <a:xfrm>
            <a:off x="0" y="2669685"/>
            <a:ext cx="4037012" cy="4188315"/>
          </a:xfrm>
          <a:prstGeom prst="rect">
            <a:avLst/>
          </a:prstGeom>
        </p:spPr>
      </p:pic>
      <p:pic>
        <p:nvPicPr>
          <p:cNvPr id="7" name="Picture 6"/>
          <p:cNvPicPr>
            <a:picLocks noChangeAspect="1"/>
          </p:cNvPicPr>
          <p:nvPr/>
        </p:nvPicPr>
        <p:blipFill rotWithShape="1">
          <a:blip r:embed="rId20">
            <a:extLst>
              <a:ext uri="{28A0092B-C50C-407E-A947-70E740481C1C}">
                <a14:useLocalDpi xmlns:a14="http://schemas.microsoft.com/office/drawing/2010/main" val="0"/>
              </a:ext>
            </a:extLst>
          </a:blip>
          <a:srcRect l="35640"/>
          <a:stretch/>
        </p:blipFill>
        <p:spPr>
          <a:xfrm>
            <a:off x="0" y="2892347"/>
            <a:ext cx="1522412" cy="2365453"/>
          </a:xfrm>
          <a:prstGeom prst="rect">
            <a:avLst/>
          </a:prstGeom>
        </p:spPr>
      </p:pic>
      <p:sp>
        <p:nvSpPr>
          <p:cNvPr id="16" name="Oval 15"/>
          <p:cNvSpPr/>
          <p:nvPr/>
        </p:nvSpPr>
        <p:spPr>
          <a:xfrm>
            <a:off x="8609012" y="1676400"/>
            <a:ext cx="2819400" cy="2819400"/>
          </a:xfrm>
          <a:prstGeom prst="ellipse">
            <a:avLst/>
          </a:prstGeom>
          <a:gradFill flip="none" rotWithShape="1">
            <a:gsLst>
              <a:gs pos="0">
                <a:schemeClr val="bg2">
                  <a:lumMod val="60000"/>
                  <a:lumOff val="40000"/>
                  <a:alpha val="7000"/>
                </a:schemeClr>
              </a:gs>
              <a:gs pos="69000">
                <a:schemeClr val="bg2">
                  <a:lumMod val="60000"/>
                  <a:lumOff val="40000"/>
                  <a:alpha val="0"/>
                </a:schemeClr>
              </a:gs>
              <a:gs pos="36000">
                <a:schemeClr val="bg2">
                  <a:lumMod val="60000"/>
                  <a:lumOff val="40000"/>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pic>
        <p:nvPicPr>
          <p:cNvPr id="9" name="Picture 8"/>
          <p:cNvPicPr>
            <a:picLocks noChangeAspect="1"/>
          </p:cNvPicPr>
          <p:nvPr/>
        </p:nvPicPr>
        <p:blipFill rotWithShape="1">
          <a:blip r:embed="rId21">
            <a:extLst>
              <a:ext uri="{28A0092B-C50C-407E-A947-70E740481C1C}">
                <a14:useLocalDpi xmlns:a14="http://schemas.microsoft.com/office/drawing/2010/main" val="0"/>
              </a:ext>
            </a:extLst>
          </a:blip>
          <a:srcRect t="28813"/>
          <a:stretch/>
        </p:blipFill>
        <p:spPr>
          <a:xfrm>
            <a:off x="7999412" y="0"/>
            <a:ext cx="1603387" cy="1141407"/>
          </a:xfrm>
          <a:prstGeom prst="rect">
            <a:avLst/>
          </a:prstGeom>
        </p:spPr>
      </p:pic>
      <p:pic>
        <p:nvPicPr>
          <p:cNvPr id="10" name="Picture 9"/>
          <p:cNvPicPr>
            <a:picLocks noChangeAspect="1"/>
          </p:cNvPicPr>
          <p:nvPr/>
        </p:nvPicPr>
        <p:blipFill rotWithShape="1">
          <a:blip r:embed="rId22">
            <a:extLst>
              <a:ext uri="{28A0092B-C50C-407E-A947-70E740481C1C}">
                <a14:useLocalDpi xmlns:a14="http://schemas.microsoft.com/office/drawing/2010/main" val="0"/>
              </a:ext>
            </a:extLst>
          </a:blip>
          <a:srcRect b="23320"/>
          <a:stretch/>
        </p:blipFill>
        <p:spPr>
          <a:xfrm>
            <a:off x="8605878" y="6096000"/>
            <a:ext cx="993734" cy="762000"/>
          </a:xfrm>
          <a:prstGeom prst="rect">
            <a:avLst/>
          </a:prstGeom>
        </p:spPr>
      </p:pic>
      <p:sp>
        <p:nvSpPr>
          <p:cNvPr id="14" name="Rectangle 13"/>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2" name="Title Placeholder 1"/>
          <p:cNvSpPr>
            <a:spLocks noGrp="1"/>
          </p:cNvSpPr>
          <p:nvPr>
            <p:ph type="title"/>
          </p:nvPr>
        </p:nvSpPr>
        <p:spPr>
          <a:xfrm>
            <a:off x="646111" y="452718"/>
            <a:ext cx="9404723" cy="1400530"/>
          </a:xfrm>
          <a:prstGeom prst="rect">
            <a:avLst/>
          </a:prstGeom>
        </p:spPr>
        <p:txBody>
          <a:bodyPr vert="horz" lIns="91440" tIns="45720" rIns="91440" bIns="45720" rtlCol="0" anchor="t">
            <a:noAutofit/>
          </a:bodyPr>
          <a:lstStyle/>
          <a:p>
            <a:r>
              <a:rPr lang="en-US"/>
              <a:t>Click to edit Master title style</a:t>
            </a:r>
            <a:endParaRPr lang="en-US" dirty="0"/>
          </a:p>
        </p:txBody>
      </p:sp>
      <p:sp>
        <p:nvSpPr>
          <p:cNvPr id="3" name="Text Placeholder 2"/>
          <p:cNvSpPr>
            <a:spLocks noGrp="1"/>
          </p:cNvSpPr>
          <p:nvPr>
            <p:ph type="body" idx="1"/>
          </p:nvPr>
        </p:nvSpPr>
        <p:spPr>
          <a:xfrm>
            <a:off x="1103312" y="2052918"/>
            <a:ext cx="8946541" cy="4195481"/>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rot="5400000">
            <a:off x="10155639" y="1790701"/>
            <a:ext cx="990599" cy="304799"/>
          </a:xfrm>
          <a:prstGeom prst="rect">
            <a:avLst/>
          </a:prstGeom>
        </p:spPr>
        <p:txBody>
          <a:bodyPr vert="horz" lIns="91440" tIns="45720" rIns="91440" bIns="45720" rtlCol="0" anchor="t"/>
          <a:lstStyle>
            <a:lvl1pPr algn="l">
              <a:defRPr sz="1100" b="0" i="0">
                <a:solidFill>
                  <a:schemeClr val="tx1">
                    <a:tint val="75000"/>
                    <a:alpha val="60000"/>
                  </a:schemeClr>
                </a:solidFill>
              </a:defRPr>
            </a:lvl1pPr>
          </a:lstStyle>
          <a:p>
            <a:fld id="{FB402931-4249-4B2A-92E1-93E6049CAE2F}" type="datetimeFigureOut">
              <a:rPr lang="en-US" smtClean="0"/>
              <a:t>12/12/2025</a:t>
            </a:fld>
            <a:endParaRPr lang="en-US"/>
          </a:p>
        </p:txBody>
      </p:sp>
      <p:sp>
        <p:nvSpPr>
          <p:cNvPr id="5" name="Footer Placeholder 4"/>
          <p:cNvSpPr>
            <a:spLocks noGrp="1"/>
          </p:cNvSpPr>
          <p:nvPr>
            <p:ph type="ftr" sz="quarter" idx="3"/>
          </p:nvPr>
        </p:nvSpPr>
        <p:spPr>
          <a:xfrm rot="5400000">
            <a:off x="8951573" y="3225297"/>
            <a:ext cx="3859795" cy="304801"/>
          </a:xfrm>
          <a:prstGeom prst="rect">
            <a:avLst/>
          </a:prstGeom>
        </p:spPr>
        <p:txBody>
          <a:bodyPr vert="horz" lIns="91440" tIns="45720" rIns="91440" bIns="45720" rtlCol="0" anchor="b"/>
          <a:lstStyle>
            <a:lvl1pPr algn="l">
              <a:defRPr sz="1100" b="0" i="0">
                <a:solidFill>
                  <a:schemeClr val="tx1">
                    <a:tint val="75000"/>
                    <a:alpha val="60000"/>
                  </a:schemeClr>
                </a:solidFill>
              </a:defRPr>
            </a:lvl1pPr>
          </a:lstStyle>
          <a:p>
            <a:endParaRPr lang="en-US"/>
          </a:p>
        </p:txBody>
      </p:sp>
      <p:sp>
        <p:nvSpPr>
          <p:cNvPr id="6" name="Slide Number Placeholder 5"/>
          <p:cNvSpPr>
            <a:spLocks noGrp="1"/>
          </p:cNvSpPr>
          <p:nvPr>
            <p:ph type="sldNum" sz="quarter" idx="4"/>
          </p:nvPr>
        </p:nvSpPr>
        <p:spPr bwMode="gray">
          <a:xfrm>
            <a:off x="10352540" y="295729"/>
            <a:ext cx="838199" cy="767687"/>
          </a:xfrm>
          <a:prstGeom prst="rect">
            <a:avLst/>
          </a:prstGeom>
        </p:spPr>
        <p:txBody>
          <a:bodyPr vert="horz" lIns="91440" tIns="45720" rIns="91440" bIns="45720" rtlCol="0" anchor="b"/>
          <a:lstStyle>
            <a:lvl1pPr algn="ctr">
              <a:defRPr sz="2800" b="0" i="0">
                <a:solidFill>
                  <a:schemeClr val="tx1">
                    <a:tint val="75000"/>
                  </a:schemeClr>
                </a:solidFill>
              </a:defRPr>
            </a:lvl1pPr>
          </a:lstStyle>
          <a:p>
            <a:fld id="{72D3E84E-F4FF-4177-9566-0B23E7564616}" type="slidenum">
              <a:rPr lang="en-US" smtClean="0"/>
              <a:t>‹#›</a:t>
            </a:fld>
            <a:endParaRPr lang="en-US"/>
          </a:p>
        </p:txBody>
      </p:sp>
    </p:spTree>
    <p:extLst>
      <p:ext uri="{BB962C8B-B14F-4D97-AF65-F5344CB8AC3E}">
        <p14:creationId xmlns:p14="http://schemas.microsoft.com/office/powerpoint/2010/main" val="1717556649"/>
      </p:ext>
    </p:extLst>
  </p:cSld>
  <p:clrMap bg1="dk1" tx1="lt1" bg2="dk2" tx2="lt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 id="2147483672" r:id="rId12"/>
    <p:sldLayoutId id="2147483673" r:id="rId13"/>
    <p:sldLayoutId id="2147483674" r:id="rId14"/>
    <p:sldLayoutId id="2147483675" r:id="rId15"/>
    <p:sldLayoutId id="2147483676" r:id="rId16"/>
    <p:sldLayoutId id="2147483677" r:id="rId17"/>
  </p:sldLayoutIdLst>
  <p:txStyles>
    <p:titleStyle>
      <a:lvl1pPr algn="l" defTabSz="457200" rtl="0" eaLnBrk="1" latinLnBrk="0" hangingPunct="1">
        <a:spcBef>
          <a:spcPct val="0"/>
        </a:spcBef>
        <a:buNone/>
        <a:defRPr sz="4200" b="0" i="0" kern="1200">
          <a:solidFill>
            <a:schemeClr val="tx2"/>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42900" indent="-3429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2000" b="0" i="0" kern="1200">
          <a:solidFill>
            <a:schemeClr val="tx1"/>
          </a:solidFill>
          <a:latin typeface="+mj-lt"/>
          <a:ea typeface="+mj-ea"/>
          <a:cs typeface="+mj-cs"/>
        </a:defRPr>
      </a:lvl1pPr>
      <a:lvl2pPr marL="742950" indent="-28575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800" b="0" i="0" kern="1200">
          <a:solidFill>
            <a:schemeClr val="tx1"/>
          </a:solidFill>
          <a:latin typeface="+mj-lt"/>
          <a:ea typeface="+mj-ea"/>
          <a:cs typeface="+mj-cs"/>
        </a:defRPr>
      </a:lvl2pPr>
      <a:lvl3pPr marL="11430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600" b="0" i="0" kern="1200">
          <a:solidFill>
            <a:schemeClr val="tx1"/>
          </a:solidFill>
          <a:latin typeface="+mj-lt"/>
          <a:ea typeface="+mj-ea"/>
          <a:cs typeface="+mj-cs"/>
        </a:defRPr>
      </a:lvl3pPr>
      <a:lvl4pPr marL="16002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400" b="0" i="0" kern="1200">
          <a:solidFill>
            <a:schemeClr val="tx1"/>
          </a:solidFill>
          <a:latin typeface="+mj-lt"/>
          <a:ea typeface="+mj-ea"/>
          <a:cs typeface="+mj-cs"/>
        </a:defRPr>
      </a:lvl4pPr>
      <a:lvl5pPr marL="20574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400" b="0" i="0" kern="1200">
          <a:solidFill>
            <a:schemeClr val="tx1"/>
          </a:solidFill>
          <a:latin typeface="+mj-lt"/>
          <a:ea typeface="+mj-ea"/>
          <a:cs typeface="+mj-cs"/>
        </a:defRPr>
      </a:lvl5pPr>
      <a:lvl6pPr marL="25060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400" b="0" i="0" kern="1200">
          <a:solidFill>
            <a:schemeClr val="tx1"/>
          </a:solidFill>
          <a:latin typeface="+mj-lt"/>
          <a:ea typeface="+mj-ea"/>
          <a:cs typeface="+mj-cs"/>
        </a:defRPr>
      </a:lvl6pPr>
      <a:lvl7pPr marL="29718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400" b="0" i="0" kern="1200">
          <a:solidFill>
            <a:schemeClr val="tx1"/>
          </a:solidFill>
          <a:latin typeface="+mj-lt"/>
          <a:ea typeface="+mj-ea"/>
          <a:cs typeface="+mj-cs"/>
        </a:defRPr>
      </a:lvl7pPr>
      <a:lvl8pPr marL="34290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400" b="0" i="0" kern="1200">
          <a:solidFill>
            <a:schemeClr val="tx1"/>
          </a:solidFill>
          <a:latin typeface="+mj-lt"/>
          <a:ea typeface="+mj-ea"/>
          <a:cs typeface="+mj-cs"/>
        </a:defRPr>
      </a:lvl8pPr>
      <a:lvl9pPr marL="38862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400" b="0" i="0" kern="1200">
          <a:solidFill>
            <a:schemeClr val="tx1"/>
          </a:solidFill>
          <a:latin typeface="+mj-lt"/>
          <a:ea typeface="+mj-ea"/>
          <a:cs typeface="+mj-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image" Target="../media/image17.png"/><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image" Target="../media/image20.png"/><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75B5D0-78E4-7D5B-C25C-51FAD6E3864D}"/>
              </a:ext>
            </a:extLst>
          </p:cNvPr>
          <p:cNvSpPr>
            <a:spLocks noGrp="1"/>
          </p:cNvSpPr>
          <p:nvPr>
            <p:ph type="ctrTitle"/>
          </p:nvPr>
        </p:nvSpPr>
        <p:spPr>
          <a:xfrm>
            <a:off x="656930" y="1219200"/>
            <a:ext cx="11921884" cy="3329581"/>
          </a:xfrm>
        </p:spPr>
        <p:txBody>
          <a:bodyPr/>
          <a:lstStyle/>
          <a:p>
            <a:r>
              <a:rPr lang="en-US" dirty="0">
                <a:ea typeface="+mj-lt"/>
                <a:cs typeface="+mj-lt"/>
              </a:rPr>
              <a:t>Fraud Detection and Risk Assessment AI-Chatbot System</a:t>
            </a:r>
          </a:p>
        </p:txBody>
      </p:sp>
      <p:sp>
        <p:nvSpPr>
          <p:cNvPr id="3" name="Subtitle 2">
            <a:extLst>
              <a:ext uri="{FF2B5EF4-FFF2-40B4-BE49-F238E27FC236}">
                <a16:creationId xmlns:a16="http://schemas.microsoft.com/office/drawing/2014/main" id="{6F13FC92-329C-10E1-968C-1210449DF957}"/>
              </a:ext>
            </a:extLst>
          </p:cNvPr>
          <p:cNvSpPr>
            <a:spLocks noGrp="1"/>
          </p:cNvSpPr>
          <p:nvPr>
            <p:ph type="subTitle" idx="1"/>
          </p:nvPr>
        </p:nvSpPr>
        <p:spPr/>
        <p:txBody>
          <a:bodyPr/>
          <a:lstStyle/>
          <a:p>
            <a:r>
              <a:rPr lang="en-US" dirty="0"/>
              <a:t>By Chirag Dwivedi and </a:t>
            </a:r>
            <a:r>
              <a:rPr lang="en-US" dirty="0" err="1"/>
              <a:t>Shadmaan</a:t>
            </a:r>
            <a:r>
              <a:rPr lang="en-US" dirty="0"/>
              <a:t> </a:t>
            </a:r>
            <a:r>
              <a:rPr lang="en-US" dirty="0" err="1"/>
              <a:t>akhand</a:t>
            </a:r>
          </a:p>
        </p:txBody>
      </p:sp>
    </p:spTree>
    <p:extLst>
      <p:ext uri="{BB962C8B-B14F-4D97-AF65-F5344CB8AC3E}">
        <p14:creationId xmlns:p14="http://schemas.microsoft.com/office/powerpoint/2010/main" val="1410683355"/>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FF859D4-6640-6992-A640-53717D1E14C3}"/>
              </a:ext>
            </a:extLst>
          </p:cNvPr>
          <p:cNvSpPr>
            <a:spLocks noGrp="1"/>
          </p:cNvSpPr>
          <p:nvPr>
            <p:ph type="title"/>
          </p:nvPr>
        </p:nvSpPr>
        <p:spPr/>
        <p:txBody>
          <a:bodyPr/>
          <a:lstStyle/>
          <a:p>
            <a:r>
              <a:rPr lang="en-US" dirty="0"/>
              <a:t>Traditional Fraud Detection Systems</a:t>
            </a:r>
          </a:p>
        </p:txBody>
      </p:sp>
      <p:sp>
        <p:nvSpPr>
          <p:cNvPr id="3" name="Content Placeholder 2">
            <a:extLst>
              <a:ext uri="{FF2B5EF4-FFF2-40B4-BE49-F238E27FC236}">
                <a16:creationId xmlns:a16="http://schemas.microsoft.com/office/drawing/2014/main" id="{194D94B7-4458-B3F9-F025-6ECC3E64A394}"/>
              </a:ext>
            </a:extLst>
          </p:cNvPr>
          <p:cNvSpPr>
            <a:spLocks noGrp="1"/>
          </p:cNvSpPr>
          <p:nvPr>
            <p:ph idx="1"/>
          </p:nvPr>
        </p:nvSpPr>
        <p:spPr>
          <a:xfrm>
            <a:off x="358390" y="1251071"/>
            <a:ext cx="11245934" cy="2604649"/>
          </a:xfrm>
        </p:spPr>
        <p:txBody>
          <a:bodyPr vert="horz" lIns="91440" tIns="45720" rIns="91440" bIns="45720" rtlCol="0" anchor="t">
            <a:normAutofit fontScale="85000" lnSpcReduction="10000"/>
          </a:bodyPr>
          <a:lstStyle/>
          <a:p>
            <a:pPr marL="0" indent="0">
              <a:buNone/>
            </a:pPr>
            <a:r>
              <a:rPr lang="en-US" dirty="0">
                <a:ea typeface="+mj-lt"/>
                <a:cs typeface="+mj-lt"/>
              </a:rPr>
              <a:t>Traditional fraud detection systems have historically relied on simple rule-based logic. These systems operate on predefined rules created by human analysts, such as “flag any transaction over $5,000 at 2 AM” or “block transfers to new accounts over a certain threshold”. While these rules are straightforward to implement and easy to understand, they come with major limitations. Because they are rigid and static, bad actors can quickly learn how these rules work and adapt their strategies to avoid detection(often by staying just below the defined thresholds). This results in many false negatives, where fraudulent transactions go unnoticed. At the same time, rule-based systems tend to produce a high number of false positives, flagging many normal transactions simply because they match a specific rule. This creates unnecessary friction for customers and increases the workload for investigators, who then must manually review each flagged case.</a:t>
            </a:r>
          </a:p>
        </p:txBody>
      </p:sp>
      <p:sp>
        <p:nvSpPr>
          <p:cNvPr id="4" name="TextBox 3">
            <a:extLst>
              <a:ext uri="{FF2B5EF4-FFF2-40B4-BE49-F238E27FC236}">
                <a16:creationId xmlns:a16="http://schemas.microsoft.com/office/drawing/2014/main" id="{0371DF14-52FB-CFA0-4871-55FDA9659330}"/>
              </a:ext>
            </a:extLst>
          </p:cNvPr>
          <p:cNvSpPr txBox="1"/>
          <p:nvPr/>
        </p:nvSpPr>
        <p:spPr>
          <a:xfrm>
            <a:off x="212744" y="3859209"/>
            <a:ext cx="5934056" cy="2862322"/>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marL="285750" indent="-285750">
              <a:buFont typeface="Arial"/>
              <a:buChar char="•"/>
            </a:pPr>
            <a:r>
              <a:rPr lang="en-US" b="1" dirty="0"/>
              <a:t>Rule-based detection system:</a:t>
            </a:r>
            <a:endParaRPr lang="en-US"/>
          </a:p>
          <a:p>
            <a:pPr marL="742950" lvl="1" indent="-285750">
              <a:buFont typeface="Calibri"/>
              <a:buChar char="-"/>
            </a:pPr>
            <a:r>
              <a:rPr lang="en-US" dirty="0">
                <a:ea typeface="+mn-lt"/>
                <a:cs typeface="+mn-lt"/>
              </a:rPr>
              <a:t>Use simple predefined rules to identify suspicious transactions</a:t>
            </a:r>
            <a:endParaRPr lang="en-US" dirty="0"/>
          </a:p>
          <a:p>
            <a:pPr marL="742950" lvl="1" indent="-285750">
              <a:buFont typeface="Calibri"/>
              <a:buChar char="-"/>
            </a:pPr>
            <a:r>
              <a:rPr lang="en-US" dirty="0">
                <a:ea typeface="+mn-lt"/>
                <a:cs typeface="+mn-lt"/>
              </a:rPr>
              <a:t>Easy to implement but inflexible and predictable</a:t>
            </a:r>
            <a:endParaRPr lang="en-US" dirty="0"/>
          </a:p>
          <a:p>
            <a:pPr marL="285750" indent="-285750">
              <a:buFont typeface="Arial"/>
              <a:buChar char="•"/>
            </a:pPr>
            <a:r>
              <a:rPr lang="en-US" b="1" dirty="0"/>
              <a:t>Anomaly-based detection system:</a:t>
            </a:r>
          </a:p>
          <a:p>
            <a:pPr marL="742950" lvl="1" indent="-285750">
              <a:spcBef>
                <a:spcPct val="0"/>
              </a:spcBef>
              <a:buFont typeface="Calibri"/>
              <a:buChar char="-"/>
            </a:pPr>
            <a:r>
              <a:rPr lang="en-US" dirty="0">
                <a:ea typeface="+mn-lt"/>
                <a:cs typeface="+mn-lt"/>
              </a:rPr>
              <a:t>Flag unusual activity compared to normal behavior</a:t>
            </a:r>
          </a:p>
          <a:p>
            <a:pPr marL="742950" lvl="1" indent="-285750">
              <a:spcBef>
                <a:spcPct val="0"/>
              </a:spcBef>
              <a:buFont typeface="Calibri"/>
              <a:buChar char="-"/>
            </a:pPr>
            <a:r>
              <a:rPr lang="en-US" dirty="0">
                <a:ea typeface="+mn-lt"/>
                <a:cs typeface="+mn-lt"/>
              </a:rPr>
              <a:t>Can detect unexpected patterns but often produce false alarms</a:t>
            </a:r>
            <a:endParaRPr lang="en-US" dirty="0"/>
          </a:p>
        </p:txBody>
      </p:sp>
      <p:sp>
        <p:nvSpPr>
          <p:cNvPr id="5" name="TextBox 4">
            <a:extLst>
              <a:ext uri="{FF2B5EF4-FFF2-40B4-BE49-F238E27FC236}">
                <a16:creationId xmlns:a16="http://schemas.microsoft.com/office/drawing/2014/main" id="{F6BC8B46-2090-56EF-3E23-546E7B9C2BA7}"/>
              </a:ext>
            </a:extLst>
          </p:cNvPr>
          <p:cNvSpPr txBox="1"/>
          <p:nvPr/>
        </p:nvSpPr>
        <p:spPr>
          <a:xfrm>
            <a:off x="5845780" y="3858929"/>
            <a:ext cx="6096000" cy="2862322"/>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marL="285750" indent="-285750">
              <a:buFont typeface="Arial,Sans-Serif"/>
              <a:buChar char="•"/>
            </a:pPr>
            <a:r>
              <a:rPr lang="en-US" b="1" dirty="0">
                <a:solidFill>
                  <a:srgbClr val="FFFFFF"/>
                </a:solidFill>
                <a:latin typeface="Century Gothic"/>
                <a:ea typeface="Arial"/>
                <a:cs typeface="Arial"/>
              </a:rPr>
              <a:t>Manual determination:</a:t>
            </a:r>
            <a:endParaRPr lang="en-US" sz="1800" b="1" dirty="0">
              <a:solidFill>
                <a:srgbClr val="FFFFFF"/>
              </a:solidFill>
              <a:latin typeface="Century Gothic"/>
              <a:ea typeface="Arial"/>
              <a:cs typeface="Arial"/>
            </a:endParaRPr>
          </a:p>
          <a:p>
            <a:pPr marL="742950" lvl="1" indent="-285750">
              <a:buFont typeface="Calibri"/>
              <a:buChar char="-"/>
            </a:pPr>
            <a:r>
              <a:rPr lang="en-US" dirty="0">
                <a:solidFill>
                  <a:srgbClr val="FFFFFF"/>
                </a:solidFill>
                <a:ea typeface="+mn-lt"/>
                <a:cs typeface="+mn-lt"/>
              </a:rPr>
              <a:t>Analysts review flagged cases and make final decisions</a:t>
            </a:r>
            <a:endParaRPr lang="en-US" dirty="0">
              <a:solidFill>
                <a:srgbClr val="FFFFFF"/>
              </a:solidFill>
              <a:latin typeface="Century Gothic"/>
              <a:ea typeface="Arial"/>
              <a:cs typeface="Arial"/>
            </a:endParaRPr>
          </a:p>
          <a:p>
            <a:pPr marL="742950" lvl="1" indent="-285750">
              <a:buFont typeface="Calibri"/>
              <a:buChar char="-"/>
            </a:pPr>
            <a:r>
              <a:rPr lang="en-US" dirty="0">
                <a:solidFill>
                  <a:srgbClr val="FFFFFF"/>
                </a:solidFill>
                <a:ea typeface="+mn-lt"/>
                <a:cs typeface="+mn-lt"/>
              </a:rPr>
              <a:t>Time-consuming and prone to human error</a:t>
            </a:r>
            <a:endParaRPr lang="en-US" dirty="0">
              <a:solidFill>
                <a:srgbClr val="FFFFFF"/>
              </a:solidFill>
              <a:latin typeface="Century Gothic"/>
              <a:ea typeface="Arial"/>
              <a:cs typeface="Arial"/>
            </a:endParaRPr>
          </a:p>
          <a:p>
            <a:pPr marL="285750" indent="-285750">
              <a:buFont typeface="Arial,Sans-Serif"/>
              <a:buChar char="•"/>
            </a:pPr>
            <a:r>
              <a:rPr lang="en-US" b="1" dirty="0">
                <a:solidFill>
                  <a:srgbClr val="FFFFFF"/>
                </a:solidFill>
                <a:latin typeface="Century Gothic"/>
                <a:ea typeface="Arial"/>
                <a:cs typeface="Arial"/>
              </a:rPr>
              <a:t>Machine learning/Artificial Intelligence system:</a:t>
            </a:r>
            <a:endParaRPr lang="en-US" sz="1800" b="1" baseline="0" dirty="0">
              <a:solidFill>
                <a:srgbClr val="FFFFFF"/>
              </a:solidFill>
              <a:latin typeface="Century Gothic"/>
              <a:ea typeface="Arial"/>
              <a:cs typeface="Arial"/>
            </a:endParaRPr>
          </a:p>
          <a:p>
            <a:pPr marL="742950" lvl="1" indent="-285750">
              <a:buFont typeface="Calibri"/>
              <a:buChar char="-"/>
            </a:pPr>
            <a:r>
              <a:rPr lang="en-US" dirty="0">
                <a:ea typeface="+mn-lt"/>
                <a:cs typeface="+mn-lt"/>
              </a:rPr>
              <a:t>More adaptive and capable of detecting subtle fraud behavior</a:t>
            </a:r>
            <a:endParaRPr lang="en-US" dirty="0">
              <a:cs typeface="Arial"/>
            </a:endParaRPr>
          </a:p>
          <a:p>
            <a:pPr marL="742950" lvl="1" indent="-285750">
              <a:buFont typeface="Calibri"/>
              <a:buChar char="-"/>
            </a:pPr>
            <a:r>
              <a:rPr lang="en-US" dirty="0">
                <a:ea typeface="+mn-lt"/>
                <a:cs typeface="+mn-lt"/>
              </a:rPr>
              <a:t>Learn patterns from large datasets to improve accuracy</a:t>
            </a:r>
            <a:endParaRPr lang="en-US" dirty="0"/>
          </a:p>
          <a:p>
            <a:pPr algn="ctr"/>
            <a:endParaRPr lang="en-US"/>
          </a:p>
        </p:txBody>
      </p:sp>
    </p:spTree>
    <p:extLst>
      <p:ext uri="{BB962C8B-B14F-4D97-AF65-F5344CB8AC3E}">
        <p14:creationId xmlns:p14="http://schemas.microsoft.com/office/powerpoint/2010/main" val="555144770"/>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0DED8CF-9D99-30BF-6812-656B55BE8DFC}"/>
              </a:ext>
            </a:extLst>
          </p:cNvPr>
          <p:cNvSpPr>
            <a:spLocks noGrp="1"/>
          </p:cNvSpPr>
          <p:nvPr>
            <p:ph type="title"/>
          </p:nvPr>
        </p:nvSpPr>
        <p:spPr/>
        <p:txBody>
          <a:bodyPr/>
          <a:lstStyle/>
          <a:p>
            <a:r>
              <a:rPr lang="en-US" dirty="0"/>
              <a:t>AI/ML in Fraud Detection Systems</a:t>
            </a:r>
          </a:p>
        </p:txBody>
      </p:sp>
      <p:sp>
        <p:nvSpPr>
          <p:cNvPr id="3" name="Content Placeholder 2">
            <a:extLst>
              <a:ext uri="{FF2B5EF4-FFF2-40B4-BE49-F238E27FC236}">
                <a16:creationId xmlns:a16="http://schemas.microsoft.com/office/drawing/2014/main" id="{FDFC2960-CBDE-B894-BD18-476001B961E8}"/>
              </a:ext>
            </a:extLst>
          </p:cNvPr>
          <p:cNvSpPr>
            <a:spLocks noGrp="1"/>
          </p:cNvSpPr>
          <p:nvPr>
            <p:ph idx="1"/>
          </p:nvPr>
        </p:nvSpPr>
        <p:spPr>
          <a:xfrm>
            <a:off x="1103312" y="1637282"/>
            <a:ext cx="8946541" cy="4195481"/>
          </a:xfrm>
        </p:spPr>
        <p:txBody>
          <a:bodyPr vert="horz" lIns="91440" tIns="45720" rIns="91440" bIns="45720" rtlCol="0" anchor="t">
            <a:normAutofit fontScale="92500"/>
          </a:bodyPr>
          <a:lstStyle/>
          <a:p>
            <a:pPr marL="0" indent="0">
              <a:buNone/>
            </a:pPr>
            <a:r>
              <a:rPr lang="en-US" dirty="0">
                <a:ea typeface="+mj-lt"/>
                <a:cs typeface="+mj-lt"/>
              </a:rPr>
              <a:t>Artificial Intelligence and Machine Learning fundamentally transformed this space by introducing systems capable of recognizing complex behavioral patterns that humans cannot easily define. Instead of relying on a handful of static rules, ML models analyze patterns across thousands or even millions of past transactions to learn what fraud typically looks like. They capture subtle, non-obvious relationships (such as unusual sequences of transactions, sudden shifts in account balance behavior, or abnormalities that don’t fit historical norms, </a:t>
            </a:r>
            <a:r>
              <a:rPr lang="en-US" dirty="0" err="1">
                <a:ea typeface="+mj-lt"/>
                <a:cs typeface="+mj-lt"/>
              </a:rPr>
              <a:t>etc</a:t>
            </a:r>
            <a:r>
              <a:rPr lang="en-US" dirty="0">
                <a:ea typeface="+mj-lt"/>
                <a:cs typeface="+mj-lt"/>
              </a:rPr>
              <a:t>). </a:t>
            </a:r>
          </a:p>
          <a:p>
            <a:pPr marL="0" indent="0">
              <a:buNone/>
            </a:pPr>
            <a:r>
              <a:rPr lang="en-US" dirty="0">
                <a:ea typeface="+mj-lt"/>
                <a:cs typeface="+mj-lt"/>
              </a:rPr>
              <a:t>Unlike traditional systems, AI continuously adapts as new fraud strategies emerge, making it more resilient to evolving criminal techniques. Additionally, ML models can process massive amounts of data extremely quickly, allowing for real-time or near-real-time fraud detection with far greater accuracy and significantly fewer false alarms.</a:t>
            </a:r>
            <a:endParaRPr lang="en-US"/>
          </a:p>
        </p:txBody>
      </p:sp>
    </p:spTree>
    <p:extLst>
      <p:ext uri="{BB962C8B-B14F-4D97-AF65-F5344CB8AC3E}">
        <p14:creationId xmlns:p14="http://schemas.microsoft.com/office/powerpoint/2010/main" val="1395605570"/>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9A93DD6-84F8-5A43-B8F9-BF534B22963B}"/>
              </a:ext>
            </a:extLst>
          </p:cNvPr>
          <p:cNvSpPr>
            <a:spLocks noGrp="1"/>
          </p:cNvSpPr>
          <p:nvPr>
            <p:ph type="title"/>
          </p:nvPr>
        </p:nvSpPr>
        <p:spPr/>
        <p:txBody>
          <a:bodyPr/>
          <a:lstStyle/>
          <a:p>
            <a:r>
              <a:rPr lang="en-US" dirty="0"/>
              <a:t>Benefits/advantages of ai in FDS</a:t>
            </a:r>
          </a:p>
        </p:txBody>
      </p:sp>
      <p:sp>
        <p:nvSpPr>
          <p:cNvPr id="3" name="Content Placeholder 2">
            <a:extLst>
              <a:ext uri="{FF2B5EF4-FFF2-40B4-BE49-F238E27FC236}">
                <a16:creationId xmlns:a16="http://schemas.microsoft.com/office/drawing/2014/main" id="{11FD3727-8B2E-61E4-FF5F-3BB1A3809895}"/>
              </a:ext>
            </a:extLst>
          </p:cNvPr>
          <p:cNvSpPr>
            <a:spLocks noGrp="1"/>
          </p:cNvSpPr>
          <p:nvPr>
            <p:ph idx="1"/>
          </p:nvPr>
        </p:nvSpPr>
        <p:spPr>
          <a:xfrm>
            <a:off x="1103312" y="2052919"/>
            <a:ext cx="8357929" cy="3340176"/>
          </a:xfrm>
        </p:spPr>
        <p:txBody>
          <a:bodyPr/>
          <a:lstStyle/>
          <a:p>
            <a:r>
              <a:rPr lang="en-US" dirty="0"/>
              <a:t>AI can analyze transactions within milliseconds to determine of it is a fraud or not.</a:t>
            </a:r>
          </a:p>
          <a:p>
            <a:r>
              <a:rPr lang="en-US" dirty="0"/>
              <a:t>Fraud pattern change frequently which traditional FDS may not be able to handle. AI driven FDS tend to adapt to changing fraud patterns easily.</a:t>
            </a:r>
          </a:p>
          <a:p>
            <a:r>
              <a:rPr lang="en-US" dirty="0"/>
              <a:t>Higher accuracy than rule-based systems as it reduces false positives and false negative predictions.</a:t>
            </a:r>
          </a:p>
          <a:p>
            <a:r>
              <a:rPr lang="en-US" dirty="0"/>
              <a:t>Provides explainability using AI chatbots.</a:t>
            </a:r>
          </a:p>
        </p:txBody>
      </p:sp>
    </p:spTree>
    <p:extLst>
      <p:ext uri="{BB962C8B-B14F-4D97-AF65-F5344CB8AC3E}">
        <p14:creationId xmlns:p14="http://schemas.microsoft.com/office/powerpoint/2010/main" val="2876332152"/>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6119E07-7920-BAB6-B6F4-E691C73BB76F}"/>
              </a:ext>
            </a:extLst>
          </p:cNvPr>
          <p:cNvSpPr>
            <a:spLocks noGrp="1"/>
          </p:cNvSpPr>
          <p:nvPr>
            <p:ph type="title"/>
          </p:nvPr>
        </p:nvSpPr>
        <p:spPr/>
        <p:txBody>
          <a:bodyPr/>
          <a:lstStyle/>
          <a:p>
            <a:pPr algn="ctr"/>
            <a:r>
              <a:rPr lang="en-US" dirty="0"/>
              <a:t>Issues </a:t>
            </a:r>
            <a:r>
              <a:rPr lang="en-US"/>
              <a:t>with </a:t>
            </a:r>
            <a:r>
              <a:rPr lang="en-US" dirty="0"/>
              <a:t>AI/ML based</a:t>
            </a:r>
            <a:r>
              <a:rPr lang="en-US"/>
              <a:t> Fraud Detection Systems</a:t>
            </a:r>
          </a:p>
        </p:txBody>
      </p:sp>
      <p:sp>
        <p:nvSpPr>
          <p:cNvPr id="11" name="TextBox 10">
            <a:extLst>
              <a:ext uri="{FF2B5EF4-FFF2-40B4-BE49-F238E27FC236}">
                <a16:creationId xmlns:a16="http://schemas.microsoft.com/office/drawing/2014/main" id="{E959FAC8-C206-3FC4-D317-ED40A06D61A0}"/>
              </a:ext>
            </a:extLst>
          </p:cNvPr>
          <p:cNvSpPr txBox="1"/>
          <p:nvPr/>
        </p:nvSpPr>
        <p:spPr>
          <a:xfrm>
            <a:off x="102660" y="1858780"/>
            <a:ext cx="7577527" cy="4524315"/>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1600" dirty="0">
                <a:ea typeface="+mn-lt"/>
                <a:cs typeface="+mn-lt"/>
              </a:rPr>
              <a:t>Even though modern machine learning models have become extremely accurate at identifying fraudulent transactions, they still suffer from one major limitation: they typically do not explain why a transaction was flagged. Most fraud detection systems simply output a binary decision, “Fraud” or “Not Fraud”, without providing any insight into what patterns or features contributed to that prediction. </a:t>
            </a:r>
          </a:p>
          <a:p>
            <a:endParaRPr lang="en-US" sz="1600" dirty="0">
              <a:ea typeface="+mn-lt"/>
              <a:cs typeface="+mn-lt"/>
            </a:endParaRPr>
          </a:p>
          <a:p>
            <a:r>
              <a:rPr lang="en-US" sz="1600" dirty="0">
                <a:ea typeface="+mn-lt"/>
                <a:cs typeface="+mn-lt"/>
              </a:rPr>
              <a:t>Because of this, human analysts are forced to manually investigate each alert by looking through transaction logs, checking balance changes, comparing similar past fraud cases, and trying to infer the model's reasoning on their own. This process is slow, labor-intensive, and difficult to scale, especially for institutions handling millions of transactions per day. </a:t>
            </a:r>
          </a:p>
          <a:p>
            <a:endParaRPr lang="en-US" sz="1600" dirty="0">
              <a:ea typeface="+mn-lt"/>
              <a:cs typeface="+mn-lt"/>
            </a:endParaRPr>
          </a:p>
          <a:p>
            <a:r>
              <a:rPr lang="en-US" sz="1600" dirty="0">
                <a:ea typeface="+mn-lt"/>
                <a:cs typeface="+mn-lt"/>
              </a:rPr>
              <a:t>The lack of transparency also delays fraud response time and reduces trust, since neither businesses nor customers receive clear explanations. As a result, there is a growing need for fraud detection systems that not only classify transactions, but also clearly communicate </a:t>
            </a:r>
            <a:r>
              <a:rPr lang="en-US" sz="1600" i="1" dirty="0">
                <a:ea typeface="+mn-lt"/>
                <a:cs typeface="+mn-lt"/>
              </a:rPr>
              <a:t>why</a:t>
            </a:r>
            <a:r>
              <a:rPr lang="en-US" sz="1600" dirty="0">
                <a:ea typeface="+mn-lt"/>
                <a:cs typeface="+mn-lt"/>
              </a:rPr>
              <a:t> a transaction appears suspicious. </a:t>
            </a:r>
            <a:endParaRPr lang="en-US" sz="1600" dirty="0"/>
          </a:p>
        </p:txBody>
      </p:sp>
      <p:sp>
        <p:nvSpPr>
          <p:cNvPr id="12" name="TextBox 11">
            <a:extLst>
              <a:ext uri="{FF2B5EF4-FFF2-40B4-BE49-F238E27FC236}">
                <a16:creationId xmlns:a16="http://schemas.microsoft.com/office/drawing/2014/main" id="{8C433344-BA65-B254-DACF-24F95F9D4EA5}"/>
              </a:ext>
            </a:extLst>
          </p:cNvPr>
          <p:cNvSpPr txBox="1"/>
          <p:nvPr/>
        </p:nvSpPr>
        <p:spPr>
          <a:xfrm>
            <a:off x="8059825" y="2520618"/>
            <a:ext cx="3567658" cy="2308324"/>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b="1" dirty="0"/>
              <a:t>Missing Feature:</a:t>
            </a:r>
            <a:r>
              <a:rPr lang="en-US" dirty="0"/>
              <a:t> Explainability</a:t>
            </a:r>
          </a:p>
          <a:p>
            <a:endParaRPr lang="en-US" dirty="0"/>
          </a:p>
          <a:p>
            <a:pPr marL="285750" indent="-285750">
              <a:buFont typeface="Arial"/>
              <a:buChar char="•"/>
            </a:pPr>
            <a:r>
              <a:rPr lang="en-US" dirty="0"/>
              <a:t>Businesses ask, "why was this transaction flagged?".</a:t>
            </a:r>
          </a:p>
          <a:p>
            <a:endParaRPr lang="en-US" dirty="0"/>
          </a:p>
          <a:p>
            <a:pPr marL="285750" indent="-285750">
              <a:buFont typeface="Arial"/>
              <a:buChar char="•"/>
            </a:pPr>
            <a:r>
              <a:rPr lang="en-US" dirty="0"/>
              <a:t>Users ask, "is my account in danger?".</a:t>
            </a:r>
          </a:p>
          <a:p>
            <a:pPr marL="285750" indent="-285750">
              <a:buFont typeface="Arial"/>
              <a:buChar char="•"/>
            </a:pPr>
            <a:endParaRPr lang="en-US" dirty="0"/>
          </a:p>
        </p:txBody>
      </p:sp>
    </p:spTree>
    <p:extLst>
      <p:ext uri="{BB962C8B-B14F-4D97-AF65-F5344CB8AC3E}">
        <p14:creationId xmlns:p14="http://schemas.microsoft.com/office/powerpoint/2010/main" val="3459847104"/>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68CB15B-5FB7-F290-79E7-5079107E311D}"/>
              </a:ext>
            </a:extLst>
          </p:cNvPr>
          <p:cNvSpPr>
            <a:spLocks noGrp="1"/>
          </p:cNvSpPr>
          <p:nvPr>
            <p:ph type="title"/>
          </p:nvPr>
        </p:nvSpPr>
        <p:spPr/>
        <p:txBody>
          <a:bodyPr/>
          <a:lstStyle/>
          <a:p>
            <a:pPr algn="ctr"/>
            <a:r>
              <a:rPr lang="en-US"/>
              <a:t>Chatbot solution with reliable analysis and summarization</a:t>
            </a:r>
            <a:endParaRPr lang="en-US" dirty="0"/>
          </a:p>
        </p:txBody>
      </p:sp>
      <p:sp>
        <p:nvSpPr>
          <p:cNvPr id="3" name="Content Placeholder 2">
            <a:extLst>
              <a:ext uri="{FF2B5EF4-FFF2-40B4-BE49-F238E27FC236}">
                <a16:creationId xmlns:a16="http://schemas.microsoft.com/office/drawing/2014/main" id="{E6171DA2-8672-B378-F404-25480A21A0E2}"/>
              </a:ext>
            </a:extLst>
          </p:cNvPr>
          <p:cNvSpPr>
            <a:spLocks noGrp="1"/>
          </p:cNvSpPr>
          <p:nvPr>
            <p:ph idx="1"/>
          </p:nvPr>
        </p:nvSpPr>
        <p:spPr>
          <a:xfrm>
            <a:off x="647362" y="1809328"/>
            <a:ext cx="10595458" cy="3826973"/>
          </a:xfrm>
        </p:spPr>
        <p:txBody>
          <a:bodyPr vert="horz" lIns="91440" tIns="45720" rIns="91440" bIns="45720" rtlCol="0" anchor="t">
            <a:normAutofit/>
          </a:bodyPr>
          <a:lstStyle/>
          <a:p>
            <a:pPr marL="0" indent="0">
              <a:buNone/>
            </a:pPr>
            <a:r>
              <a:rPr lang="en-US" sz="1800" dirty="0"/>
              <a:t>By lessening the black box nature of AI/ML models and providing in-depth explanations/potential solutions, this AI-chatbot greatly diminishes the burden on security. Security </a:t>
            </a:r>
            <a:r>
              <a:rPr lang="en-US" sz="1800" dirty="0">
                <a:ea typeface="+mj-lt"/>
                <a:cs typeface="+mj-lt"/>
              </a:rPr>
              <a:t>Analysts want systems that don’t just flag fraud, they want systems that explain the reasoning. Without explanations or clear signs, analysts must manually investigate every alert, slowing down response time and reducing trust. Explainability helps security teams understand risk faster, make better decisions, and communicate clearly with customers and auditors.</a:t>
            </a:r>
            <a:endParaRPr lang="en-US" sz="1800" dirty="0"/>
          </a:p>
        </p:txBody>
      </p:sp>
      <p:sp>
        <p:nvSpPr>
          <p:cNvPr id="4" name="TextBox 3">
            <a:extLst>
              <a:ext uri="{FF2B5EF4-FFF2-40B4-BE49-F238E27FC236}">
                <a16:creationId xmlns:a16="http://schemas.microsoft.com/office/drawing/2014/main" id="{FF1869FB-5059-0334-746A-EA961183DB4C}"/>
              </a:ext>
            </a:extLst>
          </p:cNvPr>
          <p:cNvSpPr txBox="1"/>
          <p:nvPr/>
        </p:nvSpPr>
        <p:spPr>
          <a:xfrm>
            <a:off x="327398" y="3717674"/>
            <a:ext cx="7234002" cy="3139321"/>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b="1" dirty="0"/>
              <a:t>How it works:</a:t>
            </a:r>
          </a:p>
          <a:p>
            <a:pPr marL="285750" indent="-285750">
              <a:buFont typeface="Arial"/>
              <a:buChar char="•"/>
            </a:pPr>
            <a:r>
              <a:rPr lang="en-US" dirty="0"/>
              <a:t>Random Forest based Fraud Detection Model</a:t>
            </a:r>
          </a:p>
          <a:p>
            <a:pPr marL="742950" lvl="1" indent="-285750">
              <a:buFont typeface="Calibri"/>
              <a:buChar char="-"/>
            </a:pPr>
            <a:r>
              <a:rPr lang="en-US" dirty="0">
                <a:ea typeface="+mn-lt"/>
                <a:cs typeface="+mn-lt"/>
              </a:rPr>
              <a:t>Predicts whether a transaction is fraudulent based on patterns in the data.</a:t>
            </a:r>
          </a:p>
          <a:p>
            <a:pPr marL="285750" indent="-285750">
              <a:buFont typeface="Arial"/>
              <a:buChar char="•"/>
            </a:pPr>
            <a:r>
              <a:rPr lang="en-US" dirty="0">
                <a:ea typeface="+mn-lt"/>
                <a:cs typeface="+mn-lt"/>
              </a:rPr>
              <a:t>Chatbot Layer</a:t>
            </a:r>
          </a:p>
          <a:p>
            <a:pPr marL="742950" lvl="1" indent="-285750">
              <a:buFont typeface="Calibri"/>
              <a:buChar char="-"/>
            </a:pPr>
            <a:r>
              <a:rPr lang="en-US" dirty="0">
                <a:ea typeface="+mn-lt"/>
                <a:cs typeface="+mn-lt"/>
              </a:rPr>
              <a:t>Reads the transaction</a:t>
            </a:r>
          </a:p>
          <a:p>
            <a:pPr marL="742950" lvl="1" indent="-285750">
              <a:buFont typeface="Calibri"/>
              <a:buChar char="-"/>
            </a:pPr>
            <a:r>
              <a:rPr lang="en-US" dirty="0">
                <a:ea typeface="+mn-lt"/>
                <a:cs typeface="+mn-lt"/>
              </a:rPr>
              <a:t>Interprets the model output based on its training</a:t>
            </a:r>
          </a:p>
          <a:p>
            <a:pPr marL="742950" lvl="1" indent="-285750">
              <a:buFont typeface="Calibri"/>
              <a:buChar char="-"/>
            </a:pPr>
            <a:r>
              <a:rPr lang="en-US" dirty="0">
                <a:ea typeface="+mn-lt"/>
                <a:cs typeface="+mn-lt"/>
              </a:rPr>
              <a:t>Provides a human-readable explanations such as which variables contributed most, why the model scored it as fraud, what risk factors triggered detection, </a:t>
            </a:r>
            <a:r>
              <a:rPr lang="en-US" dirty="0" err="1">
                <a:ea typeface="+mn-lt"/>
                <a:cs typeface="+mn-lt"/>
              </a:rPr>
              <a:t>etc</a:t>
            </a:r>
            <a:endParaRPr lang="en-US">
              <a:ea typeface="+mn-lt"/>
              <a:cs typeface="+mn-lt"/>
            </a:endParaRPr>
          </a:p>
          <a:p>
            <a:pPr lvl="1"/>
            <a:endParaRPr lang="en-US" dirty="0">
              <a:ea typeface="+mn-lt"/>
              <a:cs typeface="+mn-lt"/>
            </a:endParaRPr>
          </a:p>
        </p:txBody>
      </p:sp>
      <p:sp>
        <p:nvSpPr>
          <p:cNvPr id="5" name="TextBox 4">
            <a:extLst>
              <a:ext uri="{FF2B5EF4-FFF2-40B4-BE49-F238E27FC236}">
                <a16:creationId xmlns:a16="http://schemas.microsoft.com/office/drawing/2014/main" id="{DABB9C5D-8F6B-BFE2-6ED7-D39C31F954FB}"/>
              </a:ext>
            </a:extLst>
          </p:cNvPr>
          <p:cNvSpPr txBox="1"/>
          <p:nvPr/>
        </p:nvSpPr>
        <p:spPr>
          <a:xfrm>
            <a:off x="7336437" y="3716311"/>
            <a:ext cx="4854314" cy="1323439"/>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1600" b="1" dirty="0"/>
              <a:t>Example output:</a:t>
            </a:r>
            <a:br>
              <a:rPr lang="en-US" sz="1600" b="1" dirty="0"/>
            </a:br>
            <a:r>
              <a:rPr lang="en-US" sz="1600" dirty="0">
                <a:ea typeface="+mn-lt"/>
                <a:cs typeface="+mn-lt"/>
              </a:rPr>
              <a:t>“This transaction is likely fraud because the amount is unusually high, the old balance was low, and the destination account historically appears in fraudulent patterns.”</a:t>
            </a:r>
            <a:endParaRPr lang="en-US" sz="1600" dirty="0"/>
          </a:p>
        </p:txBody>
      </p:sp>
    </p:spTree>
    <p:extLst>
      <p:ext uri="{BB962C8B-B14F-4D97-AF65-F5344CB8AC3E}">
        <p14:creationId xmlns:p14="http://schemas.microsoft.com/office/powerpoint/2010/main" val="316703052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422A3B6-360B-76C7-1C29-266D7B77174C}"/>
              </a:ext>
            </a:extLst>
          </p:cNvPr>
          <p:cNvSpPr>
            <a:spLocks noGrp="1"/>
          </p:cNvSpPr>
          <p:nvPr>
            <p:ph type="title"/>
          </p:nvPr>
        </p:nvSpPr>
        <p:spPr/>
        <p:txBody>
          <a:bodyPr/>
          <a:lstStyle/>
          <a:p>
            <a:pPr algn="ctr"/>
            <a:r>
              <a:rPr lang="en-US"/>
              <a:t>Explaining the Data used </a:t>
            </a:r>
            <a:r>
              <a:rPr lang="en-US" dirty="0"/>
              <a:t>to </a:t>
            </a:r>
            <a:r>
              <a:rPr lang="en-US"/>
              <a:t>create the </a:t>
            </a:r>
            <a:r>
              <a:rPr lang="en-US" dirty="0"/>
              <a:t>Detection Model</a:t>
            </a:r>
            <a:endParaRPr lang="en-US"/>
          </a:p>
        </p:txBody>
      </p:sp>
      <p:sp>
        <p:nvSpPr>
          <p:cNvPr id="3" name="Content Placeholder 2">
            <a:extLst>
              <a:ext uri="{FF2B5EF4-FFF2-40B4-BE49-F238E27FC236}">
                <a16:creationId xmlns:a16="http://schemas.microsoft.com/office/drawing/2014/main" id="{08F7AF2B-A33B-C7DA-BDB4-A52BB1868FBA}"/>
              </a:ext>
            </a:extLst>
          </p:cNvPr>
          <p:cNvSpPr>
            <a:spLocks noGrp="1"/>
          </p:cNvSpPr>
          <p:nvPr>
            <p:ph idx="1"/>
          </p:nvPr>
        </p:nvSpPr>
        <p:spPr>
          <a:xfrm>
            <a:off x="578656" y="2027934"/>
            <a:ext cx="10764097" cy="4770103"/>
          </a:xfrm>
        </p:spPr>
        <p:txBody>
          <a:bodyPr vert="horz" lIns="91440" tIns="45720" rIns="91440" bIns="45720" rtlCol="0" anchor="t">
            <a:normAutofit fontScale="92500" lnSpcReduction="10000"/>
          </a:bodyPr>
          <a:lstStyle/>
          <a:p>
            <a:pPr marL="0" indent="0">
              <a:buNone/>
            </a:pPr>
            <a:r>
              <a:rPr lang="en-US" sz="1600" b="1" dirty="0"/>
              <a:t>Dataset:</a:t>
            </a:r>
            <a:r>
              <a:rPr lang="en-US" sz="1600" dirty="0"/>
              <a:t> </a:t>
            </a:r>
            <a:r>
              <a:rPr lang="en-US" sz="1600" dirty="0">
                <a:ea typeface="+mj-lt"/>
                <a:cs typeface="+mj-lt"/>
              </a:rPr>
              <a:t>“Fraud Detection Dataset” by Aman Ali Siddiqui (Kaggle)\</a:t>
            </a:r>
          </a:p>
          <a:p>
            <a:pPr marL="0" indent="0">
              <a:buNone/>
            </a:pPr>
            <a:r>
              <a:rPr lang="en-US" sz="1600" b="1" dirty="0"/>
              <a:t>Size:</a:t>
            </a:r>
            <a:r>
              <a:rPr lang="en-US" sz="1600" dirty="0"/>
              <a:t> 6.3 million real financial transactions</a:t>
            </a:r>
          </a:p>
          <a:p>
            <a:pPr>
              <a:buFont typeface="Arial" charset="2"/>
              <a:buChar char="•"/>
            </a:pPr>
            <a:r>
              <a:rPr lang="en-US" sz="1600" dirty="0">
                <a:ea typeface="+mj-lt"/>
                <a:cs typeface="+mj-lt"/>
              </a:rPr>
              <a:t>Extremely large sample size. Provides millions of examples for the model to learn diverse real-world behaviors.</a:t>
            </a:r>
          </a:p>
          <a:p>
            <a:pPr>
              <a:buClr>
                <a:srgbClr val="8AD0D6"/>
              </a:buClr>
              <a:buFont typeface="Arial" charset="2"/>
              <a:buChar char="•"/>
            </a:pPr>
            <a:r>
              <a:rPr lang="en-US" sz="1600" dirty="0">
                <a:ea typeface="+mj-lt"/>
                <a:cs typeface="+mj-lt"/>
              </a:rPr>
              <a:t>Contains both fraudulent &amp; non-fraudulent transactions. Ensures the model learns the difference between normal behavior and suspicious patterns.</a:t>
            </a:r>
          </a:p>
          <a:p>
            <a:pPr>
              <a:buClr>
                <a:srgbClr val="8AD0D6"/>
              </a:buClr>
              <a:buFont typeface="Arial" charset="2"/>
              <a:buChar char="•"/>
            </a:pPr>
            <a:r>
              <a:rPr lang="en-US" sz="1600" dirty="0">
                <a:ea typeface="+mj-lt"/>
                <a:cs typeface="+mj-lt"/>
              </a:rPr>
              <a:t>Includes meaningful transaction attributes, such as:</a:t>
            </a:r>
          </a:p>
          <a:p>
            <a:pPr marL="685800" lvl="1">
              <a:buClr>
                <a:srgbClr val="8AD0D6"/>
              </a:buClr>
              <a:buFont typeface="Calibri" charset="2"/>
              <a:buChar char="-"/>
            </a:pPr>
            <a:r>
              <a:rPr lang="en-US" sz="1400" b="1" dirty="0">
                <a:ea typeface="+mj-lt"/>
                <a:cs typeface="+mj-lt"/>
              </a:rPr>
              <a:t>amount</a:t>
            </a:r>
            <a:r>
              <a:rPr lang="en-US" sz="1400" dirty="0">
                <a:ea typeface="+mj-lt"/>
                <a:cs typeface="+mj-lt"/>
              </a:rPr>
              <a:t> – size of the transaction</a:t>
            </a:r>
          </a:p>
          <a:p>
            <a:pPr marL="685800" lvl="1">
              <a:buClr>
                <a:srgbClr val="8AD0D6"/>
              </a:buClr>
              <a:buFont typeface="Calibri" charset="2"/>
              <a:buChar char="-"/>
            </a:pPr>
            <a:r>
              <a:rPr lang="en-US" sz="1400" b="1" dirty="0" err="1">
                <a:ea typeface="+mj-lt"/>
                <a:cs typeface="+mj-lt"/>
              </a:rPr>
              <a:t>oldbalanceOrg</a:t>
            </a:r>
            <a:r>
              <a:rPr lang="en-US" sz="1400" b="1" dirty="0">
                <a:ea typeface="+mj-lt"/>
                <a:cs typeface="+mj-lt"/>
              </a:rPr>
              <a:t> / </a:t>
            </a:r>
            <a:r>
              <a:rPr lang="en-US" sz="1400" b="1" dirty="0" err="1">
                <a:ea typeface="+mj-lt"/>
                <a:cs typeface="+mj-lt"/>
              </a:rPr>
              <a:t>newbalanceOrig</a:t>
            </a:r>
            <a:r>
              <a:rPr lang="en-US" sz="1400" dirty="0">
                <a:ea typeface="+mj-lt"/>
                <a:cs typeface="+mj-lt"/>
              </a:rPr>
              <a:t> – sender’s balance before and after</a:t>
            </a:r>
          </a:p>
          <a:p>
            <a:pPr marL="685800" lvl="1">
              <a:buClr>
                <a:srgbClr val="8AD0D6"/>
              </a:buClr>
              <a:buFont typeface="Calibri" charset="2"/>
              <a:buChar char="-"/>
            </a:pPr>
            <a:r>
              <a:rPr lang="en-US" sz="1400" b="1" dirty="0" err="1">
                <a:ea typeface="+mj-lt"/>
                <a:cs typeface="+mj-lt"/>
              </a:rPr>
              <a:t>oldbalanceDest</a:t>
            </a:r>
            <a:r>
              <a:rPr lang="en-US" sz="1400" b="1" dirty="0">
                <a:ea typeface="+mj-lt"/>
                <a:cs typeface="+mj-lt"/>
              </a:rPr>
              <a:t> / </a:t>
            </a:r>
            <a:r>
              <a:rPr lang="en-US" sz="1400" b="1" dirty="0" err="1">
                <a:ea typeface="+mj-lt"/>
                <a:cs typeface="+mj-lt"/>
              </a:rPr>
              <a:t>newbalanceDest</a:t>
            </a:r>
            <a:r>
              <a:rPr lang="en-US" sz="1400" dirty="0">
                <a:ea typeface="+mj-lt"/>
                <a:cs typeface="+mj-lt"/>
              </a:rPr>
              <a:t> – receiver’s balance before and after</a:t>
            </a:r>
          </a:p>
          <a:p>
            <a:pPr marL="685800" lvl="1">
              <a:buClr>
                <a:srgbClr val="8AD0D6"/>
              </a:buClr>
              <a:buFont typeface="Calibri" charset="2"/>
              <a:buChar char="-"/>
            </a:pPr>
            <a:r>
              <a:rPr lang="en-US" sz="1400" b="1" dirty="0">
                <a:ea typeface="+mj-lt"/>
                <a:cs typeface="+mj-lt"/>
              </a:rPr>
              <a:t>transaction type</a:t>
            </a:r>
            <a:r>
              <a:rPr lang="en-US" sz="1400" dirty="0">
                <a:ea typeface="+mj-lt"/>
                <a:cs typeface="+mj-lt"/>
              </a:rPr>
              <a:t> – CASH_OUT, TRANSFER, etc., which are common fraud channels</a:t>
            </a:r>
          </a:p>
          <a:p>
            <a:pPr marL="685800" lvl="1">
              <a:buClr>
                <a:srgbClr val="8AD0D6"/>
              </a:buClr>
              <a:buFont typeface="Calibri" charset="2"/>
              <a:buChar char="-"/>
            </a:pPr>
            <a:r>
              <a:rPr lang="en-US" sz="1400" b="1" dirty="0" err="1">
                <a:ea typeface="+mj-lt"/>
                <a:cs typeface="+mj-lt"/>
              </a:rPr>
              <a:t>isFraud</a:t>
            </a:r>
            <a:r>
              <a:rPr lang="en-US" sz="1400" dirty="0">
                <a:ea typeface="+mj-lt"/>
                <a:cs typeface="+mj-lt"/>
              </a:rPr>
              <a:t> – ground truth label used for training</a:t>
            </a:r>
          </a:p>
          <a:p>
            <a:pPr>
              <a:buClr>
                <a:srgbClr val="8AD0D6"/>
              </a:buClr>
              <a:buFont typeface="Arial" charset="2"/>
              <a:buChar char="•"/>
            </a:pPr>
            <a:r>
              <a:rPr lang="en-US" sz="1600" dirty="0">
                <a:ea typeface="+mj-lt"/>
                <a:cs typeface="+mj-lt"/>
              </a:rPr>
              <a:t>Large datasets help the model by reducing:</a:t>
            </a:r>
          </a:p>
          <a:p>
            <a:pPr marL="685800" lvl="1">
              <a:buClr>
                <a:srgbClr val="8AD0D6"/>
              </a:buClr>
              <a:buFont typeface="Calibri" charset="2"/>
              <a:buChar char="-"/>
            </a:pPr>
            <a:r>
              <a:rPr lang="en-US" sz="1400" b="1" dirty="0">
                <a:ea typeface="+mj-lt"/>
                <a:cs typeface="+mj-lt"/>
              </a:rPr>
              <a:t>Overfitting</a:t>
            </a:r>
            <a:r>
              <a:rPr lang="en-US" sz="1400" dirty="0">
                <a:ea typeface="+mj-lt"/>
                <a:cs typeface="+mj-lt"/>
              </a:rPr>
              <a:t> – the model generalizes better instead of memorizing patterns</a:t>
            </a:r>
          </a:p>
          <a:p>
            <a:pPr marL="685800" lvl="1">
              <a:buClr>
                <a:srgbClr val="8AD0D6"/>
              </a:buClr>
              <a:buFont typeface="Calibri" charset="2"/>
              <a:buChar char="-"/>
            </a:pPr>
            <a:r>
              <a:rPr lang="en-US" sz="1400" b="1" dirty="0">
                <a:ea typeface="+mj-lt"/>
                <a:cs typeface="+mj-lt"/>
              </a:rPr>
              <a:t>Bias</a:t>
            </a:r>
            <a:r>
              <a:rPr lang="en-US" sz="1400" dirty="0">
                <a:ea typeface="+mj-lt"/>
                <a:cs typeface="+mj-lt"/>
              </a:rPr>
              <a:t> – more balanced learning across many cases</a:t>
            </a:r>
          </a:p>
          <a:p>
            <a:pPr marL="685800" lvl="1">
              <a:buClr>
                <a:srgbClr val="8AD0D6"/>
              </a:buClr>
              <a:buFont typeface="Calibri" charset="2"/>
              <a:buChar char="-"/>
            </a:pPr>
            <a:r>
              <a:rPr lang="en-US" sz="1400" b="1" dirty="0">
                <a:ea typeface="+mj-lt"/>
                <a:cs typeface="+mj-lt"/>
              </a:rPr>
              <a:t>Variance</a:t>
            </a:r>
            <a:r>
              <a:rPr lang="en-US" sz="1400" dirty="0">
                <a:ea typeface="+mj-lt"/>
                <a:cs typeface="+mj-lt"/>
              </a:rPr>
              <a:t> – more stable, consistent predictions</a:t>
            </a:r>
            <a:endParaRPr lang="en-US" sz="1400" dirty="0"/>
          </a:p>
        </p:txBody>
      </p:sp>
    </p:spTree>
    <p:extLst>
      <p:ext uri="{BB962C8B-B14F-4D97-AF65-F5344CB8AC3E}">
        <p14:creationId xmlns:p14="http://schemas.microsoft.com/office/powerpoint/2010/main" val="2798628710"/>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F939F25-7E48-9CE0-3824-CF36F4286FDE}"/>
              </a:ext>
            </a:extLst>
          </p:cNvPr>
          <p:cNvSpPr>
            <a:spLocks noGrp="1"/>
          </p:cNvSpPr>
          <p:nvPr>
            <p:ph type="title"/>
          </p:nvPr>
        </p:nvSpPr>
        <p:spPr>
          <a:xfrm>
            <a:off x="646111" y="452718"/>
            <a:ext cx="9742001" cy="1400530"/>
          </a:xfrm>
        </p:spPr>
        <p:txBody>
          <a:bodyPr/>
          <a:lstStyle/>
          <a:p>
            <a:pPr algn="ctr"/>
            <a:r>
              <a:rPr lang="en-US" dirty="0"/>
              <a:t>Explaining each Column/Category in the dataset and their importance</a:t>
            </a:r>
          </a:p>
        </p:txBody>
      </p:sp>
      <p:graphicFrame>
        <p:nvGraphicFramePr>
          <p:cNvPr id="4" name="Content Placeholder 3">
            <a:extLst>
              <a:ext uri="{FF2B5EF4-FFF2-40B4-BE49-F238E27FC236}">
                <a16:creationId xmlns:a16="http://schemas.microsoft.com/office/drawing/2014/main" id="{B8BECEFD-10F4-FDFE-0C54-3B77773F220B}"/>
              </a:ext>
            </a:extLst>
          </p:cNvPr>
          <p:cNvGraphicFramePr>
            <a:graphicFrameLocks noGrp="1"/>
          </p:cNvGraphicFramePr>
          <p:nvPr>
            <p:ph idx="1"/>
            <p:extLst>
              <p:ext uri="{D42A27DB-BD31-4B8C-83A1-F6EECF244321}">
                <p14:modId xmlns:p14="http://schemas.microsoft.com/office/powerpoint/2010/main" val="3201425320"/>
              </p:ext>
            </p:extLst>
          </p:nvPr>
        </p:nvGraphicFramePr>
        <p:xfrm>
          <a:off x="430966" y="1855032"/>
          <a:ext cx="4305794" cy="4627701"/>
        </p:xfrm>
        <a:graphic>
          <a:graphicData uri="http://schemas.openxmlformats.org/drawingml/2006/table">
            <a:tbl>
              <a:tblPr firstRow="1" bandRow="1">
                <a:tableStyleId>{5C22544A-7EE6-4342-B048-85BDC9FD1C3A}</a:tableStyleId>
              </a:tblPr>
              <a:tblGrid>
                <a:gridCol w="2152897">
                  <a:extLst>
                    <a:ext uri="{9D8B030D-6E8A-4147-A177-3AD203B41FA5}">
                      <a16:colId xmlns:a16="http://schemas.microsoft.com/office/drawing/2014/main" val="2138808591"/>
                    </a:ext>
                  </a:extLst>
                </a:gridCol>
                <a:gridCol w="2152897">
                  <a:extLst>
                    <a:ext uri="{9D8B030D-6E8A-4147-A177-3AD203B41FA5}">
                      <a16:colId xmlns:a16="http://schemas.microsoft.com/office/drawing/2014/main" val="1994188372"/>
                    </a:ext>
                  </a:extLst>
                </a:gridCol>
              </a:tblGrid>
              <a:tr h="313207">
                <a:tc>
                  <a:txBody>
                    <a:bodyPr/>
                    <a:lstStyle/>
                    <a:p>
                      <a:pPr algn="ctr"/>
                      <a:r>
                        <a:rPr lang="en-US" dirty="0"/>
                        <a:t>Column</a:t>
                      </a:r>
                    </a:p>
                  </a:txBody>
                  <a:tcPr/>
                </a:tc>
                <a:tc>
                  <a:txBody>
                    <a:bodyPr/>
                    <a:lstStyle/>
                    <a:p>
                      <a:pPr algn="ctr"/>
                      <a:r>
                        <a:rPr lang="en-US" dirty="0"/>
                        <a:t>Meaning</a:t>
                      </a:r>
                    </a:p>
                  </a:txBody>
                  <a:tcPr/>
                </a:tc>
                <a:extLst>
                  <a:ext uri="{0D108BD9-81ED-4DB2-BD59-A6C34878D82A}">
                    <a16:rowId xmlns:a16="http://schemas.microsoft.com/office/drawing/2014/main" val="2332204092"/>
                  </a:ext>
                </a:extLst>
              </a:tr>
              <a:tr h="313207">
                <a:tc>
                  <a:txBody>
                    <a:bodyPr/>
                    <a:lstStyle/>
                    <a:p>
                      <a:pPr algn="ctr"/>
                      <a:r>
                        <a:rPr lang="en-US" sz="1400" dirty="0"/>
                        <a:t>step</a:t>
                      </a:r>
                    </a:p>
                  </a:txBody>
                  <a:tcPr/>
                </a:tc>
                <a:tc>
                  <a:txBody>
                    <a:bodyPr/>
                    <a:lstStyle/>
                    <a:p>
                      <a:pPr lvl="0" algn="ctr">
                        <a:buNone/>
                      </a:pPr>
                      <a:r>
                        <a:rPr lang="en-US" sz="1400" b="0" i="0" u="none" strike="noStrike" noProof="0" dirty="0">
                          <a:latin typeface="Century Gothic"/>
                        </a:rPr>
                        <a:t>Time-step in hours</a:t>
                      </a:r>
                      <a:endParaRPr lang="en-US" sz="1400" dirty="0"/>
                    </a:p>
                  </a:txBody>
                  <a:tcPr/>
                </a:tc>
                <a:extLst>
                  <a:ext uri="{0D108BD9-81ED-4DB2-BD59-A6C34878D82A}">
                    <a16:rowId xmlns:a16="http://schemas.microsoft.com/office/drawing/2014/main" val="3133644729"/>
                  </a:ext>
                </a:extLst>
              </a:tr>
              <a:tr h="614814">
                <a:tc>
                  <a:txBody>
                    <a:bodyPr/>
                    <a:lstStyle/>
                    <a:p>
                      <a:pPr algn="ctr"/>
                      <a:r>
                        <a:rPr lang="en-US" sz="1400" dirty="0"/>
                        <a:t>type</a:t>
                      </a:r>
                    </a:p>
                  </a:txBody>
                  <a:tcPr/>
                </a:tc>
                <a:tc>
                  <a:txBody>
                    <a:bodyPr/>
                    <a:lstStyle/>
                    <a:p>
                      <a:pPr lvl="0" algn="ctr">
                        <a:buNone/>
                      </a:pPr>
                      <a:r>
                        <a:rPr lang="en-US" sz="1400" b="0" i="0" u="none" strike="noStrike" noProof="0" dirty="0">
                          <a:latin typeface="Century Gothic"/>
                        </a:rPr>
                        <a:t>Type of transaction (CASH_OUT, TRANSFER, etc.)</a:t>
                      </a:r>
                      <a:endParaRPr lang="en-US" sz="1400" dirty="0"/>
                    </a:p>
                  </a:txBody>
                  <a:tcPr/>
                </a:tc>
                <a:extLst>
                  <a:ext uri="{0D108BD9-81ED-4DB2-BD59-A6C34878D82A}">
                    <a16:rowId xmlns:a16="http://schemas.microsoft.com/office/drawing/2014/main" val="1139240766"/>
                  </a:ext>
                </a:extLst>
              </a:tr>
              <a:tr h="313207">
                <a:tc>
                  <a:txBody>
                    <a:bodyPr/>
                    <a:lstStyle/>
                    <a:p>
                      <a:pPr lvl="0" algn="ctr">
                        <a:buNone/>
                      </a:pPr>
                      <a:r>
                        <a:rPr lang="en-US" sz="1400" b="0" i="0" u="none" strike="noStrike" noProof="0" dirty="0">
                          <a:latin typeface="Century Gothic"/>
                        </a:rPr>
                        <a:t>amount</a:t>
                      </a:r>
                      <a:endParaRPr lang="en-US" sz="1400" dirty="0"/>
                    </a:p>
                  </a:txBody>
                  <a:tcPr/>
                </a:tc>
                <a:tc>
                  <a:txBody>
                    <a:bodyPr/>
                    <a:lstStyle/>
                    <a:p>
                      <a:pPr lvl="0" algn="ctr">
                        <a:buNone/>
                      </a:pPr>
                      <a:r>
                        <a:rPr lang="en-US" sz="1400" b="0" i="0" u="none" strike="noStrike" noProof="0" dirty="0">
                          <a:latin typeface="Century Gothic"/>
                        </a:rPr>
                        <a:t>Transaction amount</a:t>
                      </a:r>
                      <a:endParaRPr lang="en-US" dirty="0"/>
                    </a:p>
                  </a:txBody>
                  <a:tcPr/>
                </a:tc>
                <a:extLst>
                  <a:ext uri="{0D108BD9-81ED-4DB2-BD59-A6C34878D82A}">
                    <a16:rowId xmlns:a16="http://schemas.microsoft.com/office/drawing/2014/main" val="1824450978"/>
                  </a:ext>
                </a:extLst>
              </a:tr>
              <a:tr h="487211">
                <a:tc>
                  <a:txBody>
                    <a:bodyPr/>
                    <a:lstStyle/>
                    <a:p>
                      <a:pPr lvl="0" algn="ctr">
                        <a:buNone/>
                      </a:pPr>
                      <a:r>
                        <a:rPr lang="en-US" sz="1400" b="0" i="0" u="none" strike="noStrike" noProof="0" dirty="0" err="1">
                          <a:latin typeface="Century Gothic"/>
                        </a:rPr>
                        <a:t>oldbalanceOrg</a:t>
                      </a:r>
                      <a:endParaRPr lang="en-US" sz="1400" dirty="0"/>
                    </a:p>
                  </a:txBody>
                  <a:tcPr/>
                </a:tc>
                <a:tc>
                  <a:txBody>
                    <a:bodyPr/>
                    <a:lstStyle/>
                    <a:p>
                      <a:pPr lvl="0" algn="ctr">
                        <a:buNone/>
                      </a:pPr>
                      <a:r>
                        <a:rPr lang="en-US" sz="1400" b="0" i="0" u="none" strike="noStrike" noProof="0" dirty="0">
                          <a:latin typeface="Century Gothic"/>
                        </a:rPr>
                        <a:t>Sender’s balance before transaction</a:t>
                      </a:r>
                      <a:endParaRPr lang="en-US" dirty="0"/>
                    </a:p>
                  </a:txBody>
                  <a:tcPr/>
                </a:tc>
                <a:extLst>
                  <a:ext uri="{0D108BD9-81ED-4DB2-BD59-A6C34878D82A}">
                    <a16:rowId xmlns:a16="http://schemas.microsoft.com/office/drawing/2014/main" val="2291526548"/>
                  </a:ext>
                </a:extLst>
              </a:tr>
              <a:tr h="487211">
                <a:tc>
                  <a:txBody>
                    <a:bodyPr/>
                    <a:lstStyle/>
                    <a:p>
                      <a:pPr lvl="0" algn="ctr">
                        <a:buNone/>
                      </a:pPr>
                      <a:r>
                        <a:rPr lang="en-US" sz="1400" b="0" i="0" u="none" strike="noStrike" noProof="0" dirty="0" err="1">
                          <a:latin typeface="Century Gothic"/>
                        </a:rPr>
                        <a:t>newbalanceOrig</a:t>
                      </a:r>
                      <a:endParaRPr lang="en-US" sz="1400" dirty="0"/>
                    </a:p>
                  </a:txBody>
                  <a:tcPr/>
                </a:tc>
                <a:tc>
                  <a:txBody>
                    <a:bodyPr/>
                    <a:lstStyle/>
                    <a:p>
                      <a:pPr lvl="0" algn="ctr">
                        <a:buNone/>
                      </a:pPr>
                      <a:r>
                        <a:rPr lang="en-US" sz="1400" b="0" i="0" u="none" strike="noStrike" noProof="0" dirty="0">
                          <a:latin typeface="Century Gothic"/>
                        </a:rPr>
                        <a:t>Sender’s balance after transaction</a:t>
                      </a:r>
                      <a:endParaRPr lang="en-US" dirty="0"/>
                    </a:p>
                  </a:txBody>
                  <a:tcPr/>
                </a:tc>
                <a:extLst>
                  <a:ext uri="{0D108BD9-81ED-4DB2-BD59-A6C34878D82A}">
                    <a16:rowId xmlns:a16="http://schemas.microsoft.com/office/drawing/2014/main" val="2467684328"/>
                  </a:ext>
                </a:extLst>
              </a:tr>
              <a:tr h="487211">
                <a:tc>
                  <a:txBody>
                    <a:bodyPr/>
                    <a:lstStyle/>
                    <a:p>
                      <a:pPr lvl="0" algn="ctr">
                        <a:buNone/>
                      </a:pPr>
                      <a:r>
                        <a:rPr lang="en-US" sz="1400" b="0" i="0" u="none" strike="noStrike" noProof="0" dirty="0" err="1">
                          <a:latin typeface="Century Gothic"/>
                        </a:rPr>
                        <a:t>oldbalanceDest</a:t>
                      </a:r>
                      <a:endParaRPr lang="en-US" sz="1400" dirty="0"/>
                    </a:p>
                  </a:txBody>
                  <a:tcPr/>
                </a:tc>
                <a:tc>
                  <a:txBody>
                    <a:bodyPr/>
                    <a:lstStyle/>
                    <a:p>
                      <a:pPr lvl="0" algn="ctr">
                        <a:buNone/>
                      </a:pPr>
                      <a:r>
                        <a:rPr lang="en-US" sz="1400" b="0" i="0" u="none" strike="noStrike" noProof="0" dirty="0">
                          <a:latin typeface="Century Gothic"/>
                        </a:rPr>
                        <a:t>Receiver’s balance before transaction</a:t>
                      </a:r>
                      <a:endParaRPr lang="en-US" dirty="0"/>
                    </a:p>
                  </a:txBody>
                  <a:tcPr/>
                </a:tc>
                <a:extLst>
                  <a:ext uri="{0D108BD9-81ED-4DB2-BD59-A6C34878D82A}">
                    <a16:rowId xmlns:a16="http://schemas.microsoft.com/office/drawing/2014/main" val="2247766269"/>
                  </a:ext>
                </a:extLst>
              </a:tr>
              <a:tr h="487211">
                <a:tc>
                  <a:txBody>
                    <a:bodyPr/>
                    <a:lstStyle/>
                    <a:p>
                      <a:pPr lvl="0" algn="ctr">
                        <a:buNone/>
                      </a:pPr>
                      <a:r>
                        <a:rPr lang="en-US" sz="1400" b="0" i="0" u="none" strike="noStrike" noProof="0" dirty="0" err="1">
                          <a:latin typeface="Century Gothic"/>
                        </a:rPr>
                        <a:t>newbalanceDest</a:t>
                      </a:r>
                      <a:endParaRPr lang="en-US" sz="1400" dirty="0"/>
                    </a:p>
                  </a:txBody>
                  <a:tcPr/>
                </a:tc>
                <a:tc>
                  <a:txBody>
                    <a:bodyPr/>
                    <a:lstStyle/>
                    <a:p>
                      <a:pPr lvl="0" algn="ctr">
                        <a:buNone/>
                      </a:pPr>
                      <a:r>
                        <a:rPr lang="en-US" sz="1400" b="0" i="0" u="none" strike="noStrike" noProof="0" dirty="0">
                          <a:latin typeface="Century Gothic"/>
                        </a:rPr>
                        <a:t>Receiver’s balance after transaction</a:t>
                      </a:r>
                      <a:endParaRPr lang="en-US" dirty="0"/>
                    </a:p>
                  </a:txBody>
                  <a:tcPr/>
                </a:tc>
                <a:extLst>
                  <a:ext uri="{0D108BD9-81ED-4DB2-BD59-A6C34878D82A}">
                    <a16:rowId xmlns:a16="http://schemas.microsoft.com/office/drawing/2014/main" val="1132931056"/>
                  </a:ext>
                </a:extLst>
              </a:tr>
              <a:tr h="313207">
                <a:tc>
                  <a:txBody>
                    <a:bodyPr/>
                    <a:lstStyle/>
                    <a:p>
                      <a:pPr lvl="0" algn="ctr">
                        <a:buNone/>
                      </a:pPr>
                      <a:r>
                        <a:rPr lang="en-US" sz="1400" b="0" i="0" u="none" strike="noStrike" noProof="0" dirty="0" err="1">
                          <a:latin typeface="Century Gothic"/>
                        </a:rPr>
                        <a:t>isFraud</a:t>
                      </a:r>
                      <a:endParaRPr lang="en-US" sz="1400" dirty="0"/>
                    </a:p>
                  </a:txBody>
                  <a:tcPr/>
                </a:tc>
                <a:tc>
                  <a:txBody>
                    <a:bodyPr/>
                    <a:lstStyle/>
                    <a:p>
                      <a:pPr lvl="0" algn="ctr">
                        <a:buNone/>
                      </a:pPr>
                      <a:r>
                        <a:rPr lang="en-US" sz="1400" b="0" i="0" u="none" strike="noStrike" noProof="0" dirty="0">
                          <a:latin typeface="Century Gothic"/>
                        </a:rPr>
                        <a:t>1 = Fraud, 0 = Normal</a:t>
                      </a:r>
                      <a:endParaRPr lang="en-US" dirty="0"/>
                    </a:p>
                  </a:txBody>
                  <a:tcPr/>
                </a:tc>
                <a:extLst>
                  <a:ext uri="{0D108BD9-81ED-4DB2-BD59-A6C34878D82A}">
                    <a16:rowId xmlns:a16="http://schemas.microsoft.com/office/drawing/2014/main" val="3595037912"/>
                  </a:ext>
                </a:extLst>
              </a:tr>
              <a:tr h="487211">
                <a:tc>
                  <a:txBody>
                    <a:bodyPr/>
                    <a:lstStyle/>
                    <a:p>
                      <a:pPr lvl="0" algn="ctr">
                        <a:buNone/>
                      </a:pPr>
                      <a:r>
                        <a:rPr lang="en-US" sz="1400" b="0" i="0" u="none" strike="noStrike" noProof="0" dirty="0" err="1">
                          <a:latin typeface="Century Gothic"/>
                        </a:rPr>
                        <a:t>isFlaggedFraud</a:t>
                      </a:r>
                      <a:endParaRPr lang="en-US" sz="1400" dirty="0"/>
                    </a:p>
                  </a:txBody>
                  <a:tcPr/>
                </a:tc>
                <a:tc>
                  <a:txBody>
                    <a:bodyPr/>
                    <a:lstStyle/>
                    <a:p>
                      <a:pPr lvl="0" algn="ctr">
                        <a:buNone/>
                      </a:pPr>
                      <a:r>
                        <a:rPr lang="en-US" sz="1400" b="0" i="0" u="none" strike="noStrike" noProof="0" dirty="0">
                          <a:latin typeface="Century Gothic"/>
                        </a:rPr>
                        <a:t>Attempts to flag suspicious transactions</a:t>
                      </a:r>
                      <a:endParaRPr lang="en-US" dirty="0"/>
                    </a:p>
                  </a:txBody>
                  <a:tcPr/>
                </a:tc>
                <a:extLst>
                  <a:ext uri="{0D108BD9-81ED-4DB2-BD59-A6C34878D82A}">
                    <a16:rowId xmlns:a16="http://schemas.microsoft.com/office/drawing/2014/main" val="1200927228"/>
                  </a:ext>
                </a:extLst>
              </a:tr>
            </a:tbl>
          </a:graphicData>
        </a:graphic>
      </p:graphicFrame>
      <p:sp>
        <p:nvSpPr>
          <p:cNvPr id="5" name="TextBox 4">
            <a:extLst>
              <a:ext uri="{FF2B5EF4-FFF2-40B4-BE49-F238E27FC236}">
                <a16:creationId xmlns:a16="http://schemas.microsoft.com/office/drawing/2014/main" id="{EEA7BE56-FFF8-DD3E-8834-902EAF7111B8}"/>
              </a:ext>
            </a:extLst>
          </p:cNvPr>
          <p:cNvSpPr txBox="1"/>
          <p:nvPr/>
        </p:nvSpPr>
        <p:spPr>
          <a:xfrm>
            <a:off x="5417127" y="2064327"/>
            <a:ext cx="5922363" cy="4308872"/>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1600" b="1" dirty="0"/>
              <a:t>Why they matter:</a:t>
            </a:r>
          </a:p>
          <a:p>
            <a:pPr marL="285750" indent="-285750">
              <a:buFont typeface="Arial"/>
              <a:buChar char="•"/>
            </a:pPr>
            <a:r>
              <a:rPr lang="en-US" sz="1600" dirty="0">
                <a:ea typeface="+mn-lt"/>
                <a:cs typeface="+mn-lt"/>
              </a:rPr>
              <a:t>Amount - Fraud often involves unusually large amounts.</a:t>
            </a:r>
            <a:endParaRPr lang="en-US" sz="1600"/>
          </a:p>
          <a:p>
            <a:endParaRPr lang="en-US" sz="1600" dirty="0">
              <a:ea typeface="+mn-lt"/>
              <a:cs typeface="+mn-lt"/>
            </a:endParaRPr>
          </a:p>
          <a:p>
            <a:pPr marL="285750" indent="-285750">
              <a:buFont typeface="Arial"/>
              <a:buChar char="•"/>
            </a:pPr>
            <a:r>
              <a:rPr lang="en-US" sz="1600" err="1">
                <a:ea typeface="+mn-lt"/>
                <a:cs typeface="+mn-lt"/>
              </a:rPr>
              <a:t>oldbalanceOrg</a:t>
            </a:r>
            <a:r>
              <a:rPr lang="en-US" sz="1600" dirty="0">
                <a:ea typeface="+mn-lt"/>
                <a:cs typeface="+mn-lt"/>
              </a:rPr>
              <a:t> / </a:t>
            </a:r>
            <a:r>
              <a:rPr lang="en-US" sz="1600" err="1">
                <a:ea typeface="+mn-lt"/>
                <a:cs typeface="+mn-lt"/>
              </a:rPr>
              <a:t>newbalanceOrig</a:t>
            </a:r>
            <a:r>
              <a:rPr lang="en-US" sz="1600" dirty="0">
                <a:ea typeface="+mn-lt"/>
                <a:cs typeface="+mn-lt"/>
              </a:rPr>
              <a:t> - Shows whether money “disappears” unexpectedly.</a:t>
            </a:r>
            <a:endParaRPr lang="en-US" sz="1600"/>
          </a:p>
          <a:p>
            <a:endParaRPr lang="en-US" sz="1600" dirty="0">
              <a:ea typeface="+mn-lt"/>
              <a:cs typeface="+mn-lt"/>
            </a:endParaRPr>
          </a:p>
          <a:p>
            <a:pPr marL="285750" indent="-285750">
              <a:buFont typeface="Arial"/>
              <a:buChar char="•"/>
            </a:pPr>
            <a:r>
              <a:rPr lang="en-US" sz="1600" err="1">
                <a:ea typeface="+mn-lt"/>
                <a:cs typeface="+mn-lt"/>
              </a:rPr>
              <a:t>oldbalanceDest</a:t>
            </a:r>
            <a:r>
              <a:rPr lang="en-US" sz="1600" dirty="0">
                <a:ea typeface="+mn-lt"/>
                <a:cs typeface="+mn-lt"/>
              </a:rPr>
              <a:t> / </a:t>
            </a:r>
            <a:r>
              <a:rPr lang="en-US" sz="1600" err="1">
                <a:ea typeface="+mn-lt"/>
                <a:cs typeface="+mn-lt"/>
              </a:rPr>
              <a:t>newbalanceDest</a:t>
            </a:r>
            <a:r>
              <a:rPr lang="en-US" sz="1600" dirty="0">
                <a:ea typeface="+mn-lt"/>
                <a:cs typeface="+mn-lt"/>
              </a:rPr>
              <a:t> - Fraud accounts often suddenly receive large deposits.</a:t>
            </a:r>
            <a:endParaRPr lang="en-US" sz="1600"/>
          </a:p>
          <a:p>
            <a:endParaRPr lang="en-US" sz="1600" dirty="0">
              <a:ea typeface="+mn-lt"/>
              <a:cs typeface="+mn-lt"/>
            </a:endParaRPr>
          </a:p>
          <a:p>
            <a:pPr marL="285750" indent="-285750">
              <a:buFont typeface="Arial"/>
              <a:buChar char="•"/>
            </a:pPr>
            <a:r>
              <a:rPr lang="en-US" sz="1600" dirty="0">
                <a:ea typeface="+mn-lt"/>
                <a:cs typeface="+mn-lt"/>
              </a:rPr>
              <a:t>Type - Fraud heavily occurs in:</a:t>
            </a:r>
            <a:endParaRPr lang="en-US" sz="1600"/>
          </a:p>
          <a:p>
            <a:pPr marL="742950" lvl="1" indent="-285750">
              <a:buFont typeface="Courier New"/>
              <a:buChar char="o"/>
            </a:pPr>
            <a:r>
              <a:rPr lang="en-US" sz="1600" dirty="0">
                <a:ea typeface="+mn-lt"/>
                <a:cs typeface="+mn-lt"/>
              </a:rPr>
              <a:t>CASH_OUT</a:t>
            </a:r>
            <a:endParaRPr lang="en-US" sz="1600"/>
          </a:p>
          <a:p>
            <a:pPr marL="742950" lvl="1" indent="-285750">
              <a:buFont typeface="Courier New"/>
              <a:buChar char="o"/>
            </a:pPr>
            <a:r>
              <a:rPr lang="en-US" sz="1600" dirty="0">
                <a:ea typeface="+mn-lt"/>
                <a:cs typeface="+mn-lt"/>
              </a:rPr>
              <a:t>TRANSFER</a:t>
            </a:r>
            <a:endParaRPr lang="en-US" sz="1600" dirty="0"/>
          </a:p>
          <a:p>
            <a:pPr lvl="1"/>
            <a:endParaRPr lang="en-US" sz="1600" dirty="0">
              <a:ea typeface="+mn-lt"/>
              <a:cs typeface="+mn-lt"/>
            </a:endParaRPr>
          </a:p>
          <a:p>
            <a:pPr marL="285750" indent="-285750">
              <a:buFont typeface="Arial"/>
              <a:buChar char="•"/>
            </a:pPr>
            <a:r>
              <a:rPr lang="en-US" sz="1600" err="1">
                <a:ea typeface="+mn-lt"/>
                <a:cs typeface="+mn-lt"/>
              </a:rPr>
              <a:t>IsFlaggedFraud</a:t>
            </a:r>
            <a:r>
              <a:rPr lang="en-US" sz="1600" dirty="0">
                <a:ea typeface="+mn-lt"/>
                <a:cs typeface="+mn-lt"/>
              </a:rPr>
              <a:t> - A manual rule but usually catches very little.</a:t>
            </a:r>
            <a:br>
              <a:rPr lang="en-US" sz="1600" dirty="0">
                <a:ea typeface="+mn-lt"/>
                <a:cs typeface="+mn-lt"/>
              </a:rPr>
            </a:br>
            <a:r>
              <a:rPr lang="en-US" sz="1600" dirty="0">
                <a:ea typeface="+mn-lt"/>
                <a:cs typeface="+mn-lt"/>
              </a:rPr>
              <a:t> This is why AI/ML is needed.</a:t>
            </a:r>
            <a:endParaRPr lang="en-US" sz="1600"/>
          </a:p>
          <a:p>
            <a:endParaRPr lang="en-US" dirty="0"/>
          </a:p>
        </p:txBody>
      </p:sp>
    </p:spTree>
    <p:extLst>
      <p:ext uri="{BB962C8B-B14F-4D97-AF65-F5344CB8AC3E}">
        <p14:creationId xmlns:p14="http://schemas.microsoft.com/office/powerpoint/2010/main" val="3693207150"/>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C244E4A-BF92-DFDA-6C12-B1D270937A3D}"/>
              </a:ext>
            </a:extLst>
          </p:cNvPr>
          <p:cNvSpPr>
            <a:spLocks noGrp="1"/>
          </p:cNvSpPr>
          <p:nvPr>
            <p:ph type="title"/>
          </p:nvPr>
        </p:nvSpPr>
        <p:spPr/>
        <p:txBody>
          <a:bodyPr/>
          <a:lstStyle/>
          <a:p>
            <a:pPr algn="ctr"/>
            <a:r>
              <a:rPr lang="en-US" dirty="0"/>
              <a:t>Is this data reliable for a Random Forest Detection Model?</a:t>
            </a:r>
          </a:p>
        </p:txBody>
      </p:sp>
      <p:sp>
        <p:nvSpPr>
          <p:cNvPr id="3" name="Content Placeholder 2">
            <a:extLst>
              <a:ext uri="{FF2B5EF4-FFF2-40B4-BE49-F238E27FC236}">
                <a16:creationId xmlns:a16="http://schemas.microsoft.com/office/drawing/2014/main" id="{32458058-04F9-6CC1-B8C7-7819E96036A2}"/>
              </a:ext>
            </a:extLst>
          </p:cNvPr>
          <p:cNvSpPr>
            <a:spLocks noGrp="1"/>
          </p:cNvSpPr>
          <p:nvPr>
            <p:ph idx="1"/>
          </p:nvPr>
        </p:nvSpPr>
        <p:spPr/>
        <p:txBody>
          <a:bodyPr vert="horz" lIns="91440" tIns="45720" rIns="91440" bIns="45720" rtlCol="0" anchor="t">
            <a:normAutofit/>
          </a:bodyPr>
          <a:lstStyle/>
          <a:p>
            <a:pPr marL="0" indent="0" algn="ctr">
              <a:buNone/>
            </a:pPr>
            <a:r>
              <a:rPr lang="en-US" dirty="0"/>
              <a:t>Short answer, yes. </a:t>
            </a:r>
            <a:r>
              <a:rPr lang="en-US" dirty="0">
                <a:ea typeface="+mj-lt"/>
                <a:cs typeface="+mj-lt"/>
              </a:rPr>
              <a:t>The dataset is extremely large and contains realistic financial behavior patterns, we can trust it to train a highly accurate machine learning model.</a:t>
            </a:r>
            <a:endParaRPr lang="en-US" dirty="0"/>
          </a:p>
        </p:txBody>
      </p:sp>
      <p:sp>
        <p:nvSpPr>
          <p:cNvPr id="4" name="TextBox 3">
            <a:extLst>
              <a:ext uri="{FF2B5EF4-FFF2-40B4-BE49-F238E27FC236}">
                <a16:creationId xmlns:a16="http://schemas.microsoft.com/office/drawing/2014/main" id="{93587FF8-D4CE-C0B0-9B3D-E5596AD02599}"/>
              </a:ext>
            </a:extLst>
          </p:cNvPr>
          <p:cNvSpPr txBox="1"/>
          <p:nvPr/>
        </p:nvSpPr>
        <p:spPr>
          <a:xfrm>
            <a:off x="1893530" y="3123858"/>
            <a:ext cx="8564378" cy="3447098"/>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2000" b="1" dirty="0">
                <a:ea typeface="+mn-lt"/>
                <a:cs typeface="+mn-lt"/>
              </a:rPr>
              <a:t>Reasons:</a:t>
            </a:r>
            <a:endParaRPr lang="en-US" sz="2000"/>
          </a:p>
          <a:p>
            <a:endParaRPr lang="en-US" sz="2000" b="1" dirty="0">
              <a:ea typeface="+mn-lt"/>
              <a:cs typeface="+mn-lt"/>
            </a:endParaRPr>
          </a:p>
          <a:p>
            <a:pPr marL="285750" indent="-285750">
              <a:buFont typeface="Arial"/>
              <a:buChar char="•"/>
            </a:pPr>
            <a:r>
              <a:rPr lang="en-US" sz="2000" dirty="0">
                <a:ea typeface="+mn-lt"/>
                <a:cs typeface="+mn-lt"/>
              </a:rPr>
              <a:t>Huge sample size (6.3M rows) minimizes noise</a:t>
            </a:r>
            <a:endParaRPr lang="en-US" sz="2000"/>
          </a:p>
          <a:p>
            <a:endParaRPr lang="en-US" sz="2000" dirty="0">
              <a:ea typeface="+mn-lt"/>
              <a:cs typeface="+mn-lt"/>
            </a:endParaRPr>
          </a:p>
          <a:p>
            <a:pPr marL="285750" indent="-285750">
              <a:buFont typeface="Arial"/>
              <a:buChar char="•"/>
            </a:pPr>
            <a:r>
              <a:rPr lang="en-US" sz="2000" dirty="0">
                <a:ea typeface="+mn-lt"/>
                <a:cs typeface="+mn-lt"/>
              </a:rPr>
              <a:t>Well-balanced real-world financial fields</a:t>
            </a:r>
            <a:endParaRPr lang="en-US" sz="2000"/>
          </a:p>
          <a:p>
            <a:endParaRPr lang="en-US" sz="2000" dirty="0">
              <a:ea typeface="+mn-lt"/>
              <a:cs typeface="+mn-lt"/>
            </a:endParaRPr>
          </a:p>
          <a:p>
            <a:pPr marL="285750" indent="-285750">
              <a:buFont typeface="Arial"/>
              <a:buChar char="•"/>
            </a:pPr>
            <a:r>
              <a:rPr lang="en-US" sz="2000" dirty="0">
                <a:ea typeface="+mn-lt"/>
                <a:cs typeface="+mn-lt"/>
              </a:rPr>
              <a:t>Contains both fraudulent &amp; non-fraudulent examples</a:t>
            </a:r>
            <a:endParaRPr lang="en-US" sz="2000"/>
          </a:p>
          <a:p>
            <a:endParaRPr lang="en-US" sz="2000" dirty="0">
              <a:ea typeface="+mn-lt"/>
              <a:cs typeface="+mn-lt"/>
            </a:endParaRPr>
          </a:p>
          <a:p>
            <a:pPr marL="285750" indent="-285750">
              <a:buFont typeface="Arial"/>
              <a:buChar char="•"/>
            </a:pPr>
            <a:r>
              <a:rPr lang="en-US" sz="2000" dirty="0">
                <a:ea typeface="+mn-lt"/>
                <a:cs typeface="+mn-lt"/>
              </a:rPr>
              <a:t>Patterns are clear enough for Random Forest to perform very accurately</a:t>
            </a:r>
            <a:endParaRPr lang="en-US" sz="2000" dirty="0"/>
          </a:p>
          <a:p>
            <a:pPr algn="l"/>
            <a:endParaRPr lang="en-US" dirty="0"/>
          </a:p>
        </p:txBody>
      </p:sp>
    </p:spTree>
    <p:extLst>
      <p:ext uri="{BB962C8B-B14F-4D97-AF65-F5344CB8AC3E}">
        <p14:creationId xmlns:p14="http://schemas.microsoft.com/office/powerpoint/2010/main" val="3290984790"/>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54CC0C3-5E38-DAF6-97A8-DEA64E8D4AD1}"/>
              </a:ext>
            </a:extLst>
          </p:cNvPr>
          <p:cNvSpPr>
            <a:spLocks noGrp="1"/>
          </p:cNvSpPr>
          <p:nvPr>
            <p:ph type="title"/>
          </p:nvPr>
        </p:nvSpPr>
        <p:spPr/>
        <p:txBody>
          <a:bodyPr/>
          <a:lstStyle/>
          <a:p>
            <a:r>
              <a:rPr lang="en-US" dirty="0"/>
              <a:t>Data </a:t>
            </a:r>
            <a:r>
              <a:rPr lang="en-US"/>
              <a:t>Visualizations</a:t>
            </a:r>
            <a:endParaRPr lang="en-US" sz="1200"/>
          </a:p>
        </p:txBody>
      </p:sp>
      <p:pic>
        <p:nvPicPr>
          <p:cNvPr id="12" name="Content Placeholder 11" descr="A graph of different types of cash&#10;&#10;AI-generated content may be incorrect.">
            <a:extLst>
              <a:ext uri="{FF2B5EF4-FFF2-40B4-BE49-F238E27FC236}">
                <a16:creationId xmlns:a16="http://schemas.microsoft.com/office/drawing/2014/main" id="{634A7771-FFD9-7459-C736-2A279A79343E}"/>
              </a:ext>
            </a:extLst>
          </p:cNvPr>
          <p:cNvPicPr>
            <a:picLocks noGrp="1" noChangeAspect="1"/>
          </p:cNvPicPr>
          <p:nvPr>
            <p:ph idx="1"/>
          </p:nvPr>
        </p:nvPicPr>
        <p:blipFill>
          <a:blip r:embed="rId2"/>
          <a:stretch>
            <a:fillRect/>
          </a:stretch>
        </p:blipFill>
        <p:spPr>
          <a:xfrm>
            <a:off x="1140006" y="1589931"/>
            <a:ext cx="3952727" cy="3490001"/>
          </a:xfrm>
          <a:prstGeom prst="rect">
            <a:avLst/>
          </a:prstGeom>
        </p:spPr>
      </p:pic>
      <p:sp>
        <p:nvSpPr>
          <p:cNvPr id="3" name="TextBox 2">
            <a:extLst>
              <a:ext uri="{FF2B5EF4-FFF2-40B4-BE49-F238E27FC236}">
                <a16:creationId xmlns:a16="http://schemas.microsoft.com/office/drawing/2014/main" id="{C0644C50-A28A-95A8-6D9C-6436EB306FD3}"/>
              </a:ext>
            </a:extLst>
          </p:cNvPr>
          <p:cNvSpPr txBox="1"/>
          <p:nvPr/>
        </p:nvSpPr>
        <p:spPr>
          <a:xfrm>
            <a:off x="6925079" y="1574750"/>
            <a:ext cx="3125755" cy="3693319"/>
          </a:xfrm>
          <a:prstGeom prst="rect">
            <a:avLst/>
          </a:prstGeom>
          <a:noFill/>
        </p:spPr>
        <p:txBody>
          <a:bodyPr wrap="square" rtlCol="0">
            <a:spAutoFit/>
          </a:bodyPr>
          <a:lstStyle/>
          <a:p>
            <a:r>
              <a:rPr lang="en-US" dirty="0"/>
              <a:t>The bar chart shows the frequency for each type of transaction. According to the graph, Cashout and Payment dominate the dataset. The categorical distribution is highly informative and emphasizes the model’s need to handle categorical imbalances efficiently.</a:t>
            </a:r>
          </a:p>
          <a:p>
            <a:endParaRPr lang="en-US" dirty="0"/>
          </a:p>
        </p:txBody>
      </p:sp>
    </p:spTree>
    <p:extLst>
      <p:ext uri="{BB962C8B-B14F-4D97-AF65-F5344CB8AC3E}">
        <p14:creationId xmlns:p14="http://schemas.microsoft.com/office/powerpoint/2010/main" val="1794112438"/>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Content Placeholder 5" descr="A graph with numbers and a bar&#10;&#10;AI-generated content may be incorrect.">
            <a:extLst>
              <a:ext uri="{FF2B5EF4-FFF2-40B4-BE49-F238E27FC236}">
                <a16:creationId xmlns:a16="http://schemas.microsoft.com/office/drawing/2014/main" id="{E059587D-D1F9-993D-757C-461CC6C3176D}"/>
              </a:ext>
            </a:extLst>
          </p:cNvPr>
          <p:cNvPicPr>
            <a:picLocks noGrp="1" noChangeAspect="1"/>
          </p:cNvPicPr>
          <p:nvPr>
            <p:ph idx="1"/>
          </p:nvPr>
        </p:nvPicPr>
        <p:blipFill>
          <a:blip r:embed="rId2"/>
          <a:stretch>
            <a:fillRect/>
          </a:stretch>
        </p:blipFill>
        <p:spPr>
          <a:xfrm>
            <a:off x="5208741" y="1172456"/>
            <a:ext cx="4747846" cy="4114800"/>
          </a:xfrm>
          <a:prstGeom prst="rect">
            <a:avLst/>
          </a:prstGeom>
        </p:spPr>
      </p:pic>
      <p:sp>
        <p:nvSpPr>
          <p:cNvPr id="3" name="TextBox 2">
            <a:extLst>
              <a:ext uri="{FF2B5EF4-FFF2-40B4-BE49-F238E27FC236}">
                <a16:creationId xmlns:a16="http://schemas.microsoft.com/office/drawing/2014/main" id="{44104EAD-040E-040A-D144-22C10642EFE7}"/>
              </a:ext>
            </a:extLst>
          </p:cNvPr>
          <p:cNvSpPr txBox="1"/>
          <p:nvPr/>
        </p:nvSpPr>
        <p:spPr>
          <a:xfrm>
            <a:off x="1017037" y="2108718"/>
            <a:ext cx="3508310" cy="2862322"/>
          </a:xfrm>
          <a:prstGeom prst="rect">
            <a:avLst/>
          </a:prstGeom>
          <a:noFill/>
        </p:spPr>
        <p:txBody>
          <a:bodyPr wrap="square" rtlCol="0">
            <a:spAutoFit/>
          </a:bodyPr>
          <a:lstStyle/>
          <a:p>
            <a:r>
              <a:rPr lang="en-US" dirty="0"/>
              <a:t>This fraud frequency by type chart shows that Cash Out and Transfer have the highest amount of fraud whereas types like Payment, Cash in and Debit have virtually no frauds. This reenforces to treat “Type” as a high impact predictive feature.</a:t>
            </a:r>
          </a:p>
          <a:p>
            <a:endParaRPr lang="en-US" dirty="0"/>
          </a:p>
        </p:txBody>
      </p:sp>
      <p:sp>
        <p:nvSpPr>
          <p:cNvPr id="2" name="TextBox 1">
            <a:extLst>
              <a:ext uri="{FF2B5EF4-FFF2-40B4-BE49-F238E27FC236}">
                <a16:creationId xmlns:a16="http://schemas.microsoft.com/office/drawing/2014/main" id="{8C5657F7-D1A7-7E9F-121B-DC8A55CDB30C}"/>
              </a:ext>
            </a:extLst>
          </p:cNvPr>
          <p:cNvSpPr txBox="1"/>
          <p:nvPr/>
        </p:nvSpPr>
        <p:spPr>
          <a:xfrm>
            <a:off x="255698" y="434992"/>
            <a:ext cx="5578288" cy="738664"/>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4200" dirty="0">
                <a:solidFill>
                  <a:srgbClr val="EBEBEB"/>
                </a:solidFill>
              </a:rPr>
              <a:t>Data Visualizations</a:t>
            </a:r>
            <a:endParaRPr lang="en-US" dirty="0"/>
          </a:p>
        </p:txBody>
      </p:sp>
    </p:spTree>
    <p:extLst>
      <p:ext uri="{BB962C8B-B14F-4D97-AF65-F5344CB8AC3E}">
        <p14:creationId xmlns:p14="http://schemas.microsoft.com/office/powerpoint/2010/main" val="843030863"/>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85171AC7-0895-398F-FF35-03A06D5B98DE}"/>
              </a:ext>
            </a:extLst>
          </p:cNvPr>
          <p:cNvSpPr>
            <a:spLocks noGrp="1"/>
          </p:cNvSpPr>
          <p:nvPr>
            <p:ph idx="1"/>
          </p:nvPr>
        </p:nvSpPr>
        <p:spPr>
          <a:xfrm>
            <a:off x="898040" y="1753733"/>
            <a:ext cx="4992688" cy="4195481"/>
          </a:xfrm>
        </p:spPr>
        <p:txBody>
          <a:bodyPr/>
          <a:lstStyle/>
          <a:p>
            <a:pPr marL="0" indent="0">
              <a:buNone/>
            </a:pPr>
            <a:r>
              <a:rPr lang="en-US" dirty="0"/>
              <a:t>This density plot Shows the distribution of different transaction amounts. This gives an idea of what amount of transaction happens the most, which helps the model differentiates between normal transactions which are around the average amount and fraudulent transactions that happen at higher-than-average amounts.</a:t>
            </a:r>
          </a:p>
          <a:p>
            <a:pPr marL="0" indent="0">
              <a:buNone/>
            </a:pPr>
            <a:endParaRPr lang="en-US" dirty="0"/>
          </a:p>
        </p:txBody>
      </p:sp>
      <p:pic>
        <p:nvPicPr>
          <p:cNvPr id="5" name="Picture 4" descr="A graph of a green line&#10;&#10;AI-generated content may be incorrect.">
            <a:extLst>
              <a:ext uri="{FF2B5EF4-FFF2-40B4-BE49-F238E27FC236}">
                <a16:creationId xmlns:a16="http://schemas.microsoft.com/office/drawing/2014/main" id="{C2401117-4ECE-BAFF-759B-5D1CEA896C11}"/>
              </a:ext>
            </a:extLst>
          </p:cNvPr>
          <p:cNvPicPr>
            <a:picLocks noChangeAspect="1"/>
          </p:cNvPicPr>
          <p:nvPr/>
        </p:nvPicPr>
        <p:blipFill>
          <a:blip r:embed="rId2"/>
          <a:stretch>
            <a:fillRect/>
          </a:stretch>
        </p:blipFill>
        <p:spPr>
          <a:xfrm>
            <a:off x="6301274" y="1753733"/>
            <a:ext cx="4086057" cy="2979674"/>
          </a:xfrm>
          <a:prstGeom prst="rect">
            <a:avLst/>
          </a:prstGeom>
        </p:spPr>
      </p:pic>
      <p:sp>
        <p:nvSpPr>
          <p:cNvPr id="2" name="TextBox 1">
            <a:extLst>
              <a:ext uri="{FF2B5EF4-FFF2-40B4-BE49-F238E27FC236}">
                <a16:creationId xmlns:a16="http://schemas.microsoft.com/office/drawing/2014/main" id="{E04AE909-CEEA-3D4B-43E1-87CC4C08ED66}"/>
              </a:ext>
            </a:extLst>
          </p:cNvPr>
          <p:cNvSpPr txBox="1"/>
          <p:nvPr/>
        </p:nvSpPr>
        <p:spPr>
          <a:xfrm>
            <a:off x="900545" y="552483"/>
            <a:ext cx="7169523" cy="738664"/>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l"/>
            <a:r>
              <a:rPr lang="en-US" sz="4200" baseline="0">
                <a:solidFill>
                  <a:srgbClr val="EBEBEB"/>
                </a:solidFill>
                <a:latin typeface="Century Gothic"/>
              </a:rPr>
              <a:t>Data Visualizations</a:t>
            </a:r>
            <a:endParaRPr lang="en-US"/>
          </a:p>
        </p:txBody>
      </p:sp>
    </p:spTree>
    <p:extLst>
      <p:ext uri="{BB962C8B-B14F-4D97-AF65-F5344CB8AC3E}">
        <p14:creationId xmlns:p14="http://schemas.microsoft.com/office/powerpoint/2010/main" val="2514848292"/>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Content Placeholder 5" descr="A graph showing a number of frauds over time&#10;&#10;AI-generated content may be incorrect.">
            <a:extLst>
              <a:ext uri="{FF2B5EF4-FFF2-40B4-BE49-F238E27FC236}">
                <a16:creationId xmlns:a16="http://schemas.microsoft.com/office/drawing/2014/main" id="{18B1DF56-A61D-8F0B-FEE7-3BC62F80D0B6}"/>
              </a:ext>
            </a:extLst>
          </p:cNvPr>
          <p:cNvPicPr>
            <a:picLocks noGrp="1" noChangeAspect="1"/>
          </p:cNvPicPr>
          <p:nvPr>
            <p:ph idx="1"/>
          </p:nvPr>
        </p:nvPicPr>
        <p:blipFill>
          <a:blip r:embed="rId2"/>
          <a:stretch>
            <a:fillRect/>
          </a:stretch>
        </p:blipFill>
        <p:spPr>
          <a:xfrm>
            <a:off x="718717" y="1371600"/>
            <a:ext cx="4832997" cy="4114800"/>
          </a:xfrm>
          <a:prstGeom prst="rect">
            <a:avLst/>
          </a:prstGeom>
        </p:spPr>
      </p:pic>
      <p:sp>
        <p:nvSpPr>
          <p:cNvPr id="3" name="TextBox 2">
            <a:extLst>
              <a:ext uri="{FF2B5EF4-FFF2-40B4-BE49-F238E27FC236}">
                <a16:creationId xmlns:a16="http://schemas.microsoft.com/office/drawing/2014/main" id="{AD493905-DCB1-2CE3-0B9A-E5493767B9BD}"/>
              </a:ext>
            </a:extLst>
          </p:cNvPr>
          <p:cNvSpPr txBox="1"/>
          <p:nvPr/>
        </p:nvSpPr>
        <p:spPr>
          <a:xfrm>
            <a:off x="6354146" y="2274838"/>
            <a:ext cx="4077478" cy="2308324"/>
          </a:xfrm>
          <a:prstGeom prst="rect">
            <a:avLst/>
          </a:prstGeom>
          <a:noFill/>
        </p:spPr>
        <p:txBody>
          <a:bodyPr wrap="square" rtlCol="0">
            <a:spAutoFit/>
          </a:bodyPr>
          <a:lstStyle/>
          <a:p>
            <a:r>
              <a:rPr lang="en-US" dirty="0"/>
              <a:t>The graph shows the relationship between number of frauds and time. As one may observe, number of frauds stay constant overall across the graph. This means that fraud transactions are not seasonal and may happen throughout the year.</a:t>
            </a:r>
          </a:p>
        </p:txBody>
      </p:sp>
      <p:sp>
        <p:nvSpPr>
          <p:cNvPr id="2" name="TextBox 1">
            <a:extLst>
              <a:ext uri="{FF2B5EF4-FFF2-40B4-BE49-F238E27FC236}">
                <a16:creationId xmlns:a16="http://schemas.microsoft.com/office/drawing/2014/main" id="{662E1B59-9266-42E2-4C59-BE9FD22ABDBA}"/>
              </a:ext>
            </a:extLst>
          </p:cNvPr>
          <p:cNvSpPr txBox="1"/>
          <p:nvPr/>
        </p:nvSpPr>
        <p:spPr>
          <a:xfrm>
            <a:off x="5173042" y="470986"/>
            <a:ext cx="5634317" cy="738664"/>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l"/>
            <a:r>
              <a:rPr lang="en-US" sz="4200" baseline="0">
                <a:solidFill>
                  <a:srgbClr val="EBEBEB"/>
                </a:solidFill>
                <a:latin typeface="Century Gothic"/>
              </a:rPr>
              <a:t>Data Visualizations</a:t>
            </a:r>
            <a:endParaRPr lang="en-US"/>
          </a:p>
        </p:txBody>
      </p:sp>
    </p:spTree>
    <p:extLst>
      <p:ext uri="{BB962C8B-B14F-4D97-AF65-F5344CB8AC3E}">
        <p14:creationId xmlns:p14="http://schemas.microsoft.com/office/powerpoint/2010/main" val="3691486441"/>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Content Placeholder 6">
            <a:extLst>
              <a:ext uri="{FF2B5EF4-FFF2-40B4-BE49-F238E27FC236}">
                <a16:creationId xmlns:a16="http://schemas.microsoft.com/office/drawing/2014/main" id="{696FD55C-0C05-7C2A-A295-16EE217BEB3E}"/>
              </a:ext>
            </a:extLst>
          </p:cNvPr>
          <p:cNvPicPr>
            <a:picLocks noGrp="1" noChangeAspect="1"/>
          </p:cNvPicPr>
          <p:nvPr>
            <p:ph idx="1"/>
          </p:nvPr>
        </p:nvPicPr>
        <p:blipFill>
          <a:blip r:embed="rId2"/>
          <a:stretch>
            <a:fillRect/>
          </a:stretch>
        </p:blipFill>
        <p:spPr>
          <a:xfrm>
            <a:off x="352429" y="1371600"/>
            <a:ext cx="5538298" cy="4114800"/>
          </a:xfrm>
          <a:prstGeom prst="rect">
            <a:avLst/>
          </a:prstGeom>
        </p:spPr>
      </p:pic>
      <p:sp>
        <p:nvSpPr>
          <p:cNvPr id="3" name="TextBox 2">
            <a:extLst>
              <a:ext uri="{FF2B5EF4-FFF2-40B4-BE49-F238E27FC236}">
                <a16:creationId xmlns:a16="http://schemas.microsoft.com/office/drawing/2014/main" id="{C9A01E63-6D89-E616-7087-329692911596}"/>
              </a:ext>
            </a:extLst>
          </p:cNvPr>
          <p:cNvSpPr txBox="1"/>
          <p:nvPr/>
        </p:nvSpPr>
        <p:spPr>
          <a:xfrm>
            <a:off x="6578082" y="1511558"/>
            <a:ext cx="3536302" cy="3693319"/>
          </a:xfrm>
          <a:prstGeom prst="rect">
            <a:avLst/>
          </a:prstGeom>
          <a:noFill/>
        </p:spPr>
        <p:txBody>
          <a:bodyPr wrap="square" rtlCol="0">
            <a:spAutoFit/>
          </a:bodyPr>
          <a:lstStyle/>
          <a:p>
            <a:r>
              <a:rPr lang="en-US" dirty="0"/>
              <a:t>Figure shows two box plots. One for fraud transactions and the other for legitimate transactions. The boxplot shows that fraudulent transactions seem to have a much higher amount than legitimate transactions with the median and upper quartile significantly elevated. The plot shows that transaction amounts are a important factor.</a:t>
            </a:r>
          </a:p>
        </p:txBody>
      </p:sp>
      <p:sp>
        <p:nvSpPr>
          <p:cNvPr id="2" name="TextBox 1">
            <a:extLst>
              <a:ext uri="{FF2B5EF4-FFF2-40B4-BE49-F238E27FC236}">
                <a16:creationId xmlns:a16="http://schemas.microsoft.com/office/drawing/2014/main" id="{A4140960-7278-C5D8-88A5-062A9D70A35F}"/>
              </a:ext>
            </a:extLst>
          </p:cNvPr>
          <p:cNvSpPr txBox="1"/>
          <p:nvPr/>
        </p:nvSpPr>
        <p:spPr>
          <a:xfrm>
            <a:off x="2726085" y="380321"/>
            <a:ext cx="6922994" cy="738664"/>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4200" dirty="0">
                <a:solidFill>
                  <a:srgbClr val="EBEBEB"/>
                </a:solidFill>
              </a:rPr>
              <a:t>Data Visualizations</a:t>
            </a:r>
            <a:endParaRPr lang="en-US" dirty="0"/>
          </a:p>
        </p:txBody>
      </p:sp>
    </p:spTree>
    <p:extLst>
      <p:ext uri="{BB962C8B-B14F-4D97-AF65-F5344CB8AC3E}">
        <p14:creationId xmlns:p14="http://schemas.microsoft.com/office/powerpoint/2010/main" val="112334001"/>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2BA1A0B-4D64-2E69-201F-CD77DA939CEB}"/>
              </a:ext>
            </a:extLst>
          </p:cNvPr>
          <p:cNvSpPr>
            <a:spLocks noGrp="1"/>
          </p:cNvSpPr>
          <p:nvPr>
            <p:ph type="title"/>
          </p:nvPr>
        </p:nvSpPr>
        <p:spPr/>
        <p:txBody>
          <a:bodyPr/>
          <a:lstStyle/>
          <a:p>
            <a:r>
              <a:rPr lang="en-US" dirty="0"/>
              <a:t>Data Visualizations</a:t>
            </a:r>
          </a:p>
        </p:txBody>
      </p:sp>
      <p:sp>
        <p:nvSpPr>
          <p:cNvPr id="3" name="Content Placeholder 2">
            <a:extLst>
              <a:ext uri="{FF2B5EF4-FFF2-40B4-BE49-F238E27FC236}">
                <a16:creationId xmlns:a16="http://schemas.microsoft.com/office/drawing/2014/main" id="{AF13F643-5E6C-483D-9A0F-18AB561C78D3}"/>
              </a:ext>
            </a:extLst>
          </p:cNvPr>
          <p:cNvSpPr>
            <a:spLocks noGrp="1"/>
          </p:cNvSpPr>
          <p:nvPr>
            <p:ph idx="1"/>
          </p:nvPr>
        </p:nvSpPr>
        <p:spPr>
          <a:xfrm>
            <a:off x="5962262" y="2454134"/>
            <a:ext cx="3937518" cy="3172225"/>
          </a:xfrm>
        </p:spPr>
        <p:txBody>
          <a:bodyPr/>
          <a:lstStyle/>
          <a:p>
            <a:pPr marL="0" indent="0">
              <a:buNone/>
            </a:pPr>
            <a:r>
              <a:rPr lang="en-US" dirty="0"/>
              <a:t>The Bar Graph shows the frequency of frauds for Transfer and Cashout, the two largest categories of fraud. From the graph most frauds happen in Cash Out transaction with almost 2 million frauds.</a:t>
            </a:r>
          </a:p>
        </p:txBody>
      </p:sp>
      <p:pic>
        <p:nvPicPr>
          <p:cNvPr id="5" name="Picture 4">
            <a:extLst>
              <a:ext uri="{FF2B5EF4-FFF2-40B4-BE49-F238E27FC236}">
                <a16:creationId xmlns:a16="http://schemas.microsoft.com/office/drawing/2014/main" id="{0163F614-2635-8ADC-2284-9AD35599A312}"/>
              </a:ext>
            </a:extLst>
          </p:cNvPr>
          <p:cNvPicPr>
            <a:picLocks noChangeAspect="1"/>
          </p:cNvPicPr>
          <p:nvPr/>
        </p:nvPicPr>
        <p:blipFill>
          <a:blip r:embed="rId2"/>
          <a:stretch>
            <a:fillRect/>
          </a:stretch>
        </p:blipFill>
        <p:spPr>
          <a:xfrm>
            <a:off x="963905" y="2322989"/>
            <a:ext cx="3722941" cy="2902154"/>
          </a:xfrm>
          <a:prstGeom prst="rect">
            <a:avLst/>
          </a:prstGeom>
        </p:spPr>
      </p:pic>
    </p:spTree>
    <p:extLst>
      <p:ext uri="{BB962C8B-B14F-4D97-AF65-F5344CB8AC3E}">
        <p14:creationId xmlns:p14="http://schemas.microsoft.com/office/powerpoint/2010/main" val="2565524180"/>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F16BEDE9-7FC4-836B-8E21-6CC6A1956E47}"/>
              </a:ext>
            </a:extLst>
          </p:cNvPr>
          <p:cNvSpPr>
            <a:spLocks noGrp="1"/>
          </p:cNvSpPr>
          <p:nvPr>
            <p:ph idx="1"/>
          </p:nvPr>
        </p:nvSpPr>
        <p:spPr>
          <a:xfrm>
            <a:off x="5868955" y="2052918"/>
            <a:ext cx="4180898" cy="4195481"/>
          </a:xfrm>
        </p:spPr>
        <p:txBody>
          <a:bodyPr/>
          <a:lstStyle/>
          <a:p>
            <a:r>
              <a:rPr lang="en-US" dirty="0"/>
              <a:t>The heatmap reveals several important relationships:</a:t>
            </a:r>
          </a:p>
          <a:p>
            <a:pPr marL="800100" lvl="1" indent="-342900">
              <a:buFont typeface="+mj-lt"/>
              <a:buAutoNum type="arabicPeriod"/>
            </a:pPr>
            <a:r>
              <a:rPr lang="en-US" dirty="0"/>
              <a:t>Sender and Receiver balance change</a:t>
            </a:r>
          </a:p>
          <a:p>
            <a:pPr marL="800100" lvl="1" indent="-342900">
              <a:buFont typeface="+mj-lt"/>
              <a:buAutoNum type="arabicPeriod"/>
            </a:pPr>
            <a:r>
              <a:rPr lang="en-US" dirty="0"/>
              <a:t>Fraud has moderate relations with numerical features (amount: 0.08)</a:t>
            </a:r>
          </a:p>
          <a:p>
            <a:pPr marL="0" indent="0">
              <a:buNone/>
            </a:pPr>
            <a:endParaRPr lang="en-US" dirty="0"/>
          </a:p>
        </p:txBody>
      </p:sp>
      <p:pic>
        <p:nvPicPr>
          <p:cNvPr id="5" name="Picture 4">
            <a:extLst>
              <a:ext uri="{FF2B5EF4-FFF2-40B4-BE49-F238E27FC236}">
                <a16:creationId xmlns:a16="http://schemas.microsoft.com/office/drawing/2014/main" id="{C32B4831-1D51-A711-176C-0A267C9DD85C}"/>
              </a:ext>
            </a:extLst>
          </p:cNvPr>
          <p:cNvPicPr>
            <a:picLocks noChangeAspect="1"/>
          </p:cNvPicPr>
          <p:nvPr/>
        </p:nvPicPr>
        <p:blipFill>
          <a:blip r:embed="rId2"/>
          <a:stretch>
            <a:fillRect/>
          </a:stretch>
        </p:blipFill>
        <p:spPr>
          <a:xfrm>
            <a:off x="1016253" y="1507817"/>
            <a:ext cx="4551521" cy="3842366"/>
          </a:xfrm>
          <a:prstGeom prst="rect">
            <a:avLst/>
          </a:prstGeom>
        </p:spPr>
      </p:pic>
      <p:sp>
        <p:nvSpPr>
          <p:cNvPr id="2" name="TextBox 1">
            <a:extLst>
              <a:ext uri="{FF2B5EF4-FFF2-40B4-BE49-F238E27FC236}">
                <a16:creationId xmlns:a16="http://schemas.microsoft.com/office/drawing/2014/main" id="{03336D7B-FDE7-794D-429C-982E5CB0B62E}"/>
              </a:ext>
            </a:extLst>
          </p:cNvPr>
          <p:cNvSpPr txBox="1"/>
          <p:nvPr/>
        </p:nvSpPr>
        <p:spPr>
          <a:xfrm>
            <a:off x="1423147" y="456724"/>
            <a:ext cx="8278905" cy="738664"/>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4200" dirty="0">
                <a:solidFill>
                  <a:srgbClr val="EBEBEB"/>
                </a:solidFill>
              </a:rPr>
              <a:t>Data Visualizations</a:t>
            </a:r>
            <a:endParaRPr lang="en-US" dirty="0"/>
          </a:p>
        </p:txBody>
      </p:sp>
    </p:spTree>
    <p:extLst>
      <p:ext uri="{BB962C8B-B14F-4D97-AF65-F5344CB8AC3E}">
        <p14:creationId xmlns:p14="http://schemas.microsoft.com/office/powerpoint/2010/main" val="166744800"/>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5BF66DB-6B62-0442-EB3B-8B6EAB91BB32}"/>
              </a:ext>
            </a:extLst>
          </p:cNvPr>
          <p:cNvSpPr>
            <a:spLocks noGrp="1"/>
          </p:cNvSpPr>
          <p:nvPr>
            <p:ph type="title"/>
          </p:nvPr>
        </p:nvSpPr>
        <p:spPr/>
        <p:txBody>
          <a:bodyPr/>
          <a:lstStyle/>
          <a:p>
            <a:r>
              <a:rPr lang="en-US" dirty="0"/>
              <a:t>Technology Stack: Tools and Libraries used</a:t>
            </a:r>
          </a:p>
        </p:txBody>
      </p:sp>
      <p:sp>
        <p:nvSpPr>
          <p:cNvPr id="3" name="Content Placeholder 2">
            <a:extLst>
              <a:ext uri="{FF2B5EF4-FFF2-40B4-BE49-F238E27FC236}">
                <a16:creationId xmlns:a16="http://schemas.microsoft.com/office/drawing/2014/main" id="{494E4750-70EA-DE8B-83D6-93DA2A832B86}"/>
              </a:ext>
            </a:extLst>
          </p:cNvPr>
          <p:cNvSpPr>
            <a:spLocks noGrp="1"/>
          </p:cNvSpPr>
          <p:nvPr>
            <p:ph idx="1"/>
          </p:nvPr>
        </p:nvSpPr>
        <p:spPr>
          <a:xfrm>
            <a:off x="1103313" y="2052917"/>
            <a:ext cx="5675440" cy="4021311"/>
          </a:xfrm>
        </p:spPr>
        <p:txBody>
          <a:bodyPr>
            <a:normAutofit fontScale="85000" lnSpcReduction="20000"/>
          </a:bodyPr>
          <a:lstStyle/>
          <a:p>
            <a:r>
              <a:rPr lang="en-US" dirty="0"/>
              <a:t>Programming Language: </a:t>
            </a:r>
          </a:p>
          <a:p>
            <a:pPr lvl="1">
              <a:buFont typeface="Arial" panose="020B0604020202020204" pitchFamily="34" charset="0"/>
              <a:buChar char="•"/>
            </a:pPr>
            <a:r>
              <a:rPr lang="en-US" dirty="0"/>
              <a:t>Python – Main language used for program and development</a:t>
            </a:r>
          </a:p>
          <a:p>
            <a:r>
              <a:rPr lang="en-US" dirty="0"/>
              <a:t>Data Analysis and Processing:</a:t>
            </a:r>
          </a:p>
          <a:p>
            <a:pPr lvl="1">
              <a:buFont typeface="Arial" panose="020B0604020202020204" pitchFamily="34" charset="0"/>
              <a:buChar char="•"/>
            </a:pPr>
            <a:r>
              <a:rPr lang="en-US" dirty="0"/>
              <a:t>Pandas – Data Cleaning, Feature Selection, and transformation.</a:t>
            </a:r>
          </a:p>
          <a:p>
            <a:pPr lvl="1">
              <a:buFont typeface="Arial" panose="020B0604020202020204" pitchFamily="34" charset="0"/>
              <a:buChar char="•"/>
            </a:pPr>
            <a:r>
              <a:rPr lang="en-US" dirty="0"/>
              <a:t>NumPy – For Numerical Operations and Vectorized Computation.</a:t>
            </a:r>
          </a:p>
          <a:p>
            <a:r>
              <a:rPr lang="en-US" dirty="0"/>
              <a:t>Machine Learning Models and tools:</a:t>
            </a:r>
          </a:p>
          <a:p>
            <a:pPr lvl="1">
              <a:buFont typeface="Wingdings" panose="05000000000000000000" pitchFamily="2" charset="2"/>
              <a:buChar char="Ø"/>
            </a:pPr>
            <a:r>
              <a:rPr lang="en-US" dirty="0"/>
              <a:t>Scikit-learn –</a:t>
            </a:r>
          </a:p>
          <a:p>
            <a:pPr lvl="2">
              <a:buFont typeface="Arial" panose="020B0604020202020204" pitchFamily="34" charset="0"/>
              <a:buChar char="•"/>
            </a:pPr>
            <a:r>
              <a:rPr lang="en-US" dirty="0"/>
              <a:t>Logistic Regression (Original Choice) and Random Forest (Final Choice)</a:t>
            </a:r>
          </a:p>
          <a:p>
            <a:pPr lvl="1">
              <a:buFont typeface="Wingdings" panose="05000000000000000000" pitchFamily="2" charset="2"/>
              <a:buChar char="Ø"/>
            </a:pPr>
            <a:r>
              <a:rPr lang="en-US" dirty="0"/>
              <a:t>Joblib – Model serialization/loading in the web app.</a:t>
            </a:r>
          </a:p>
        </p:txBody>
      </p:sp>
      <p:sp>
        <p:nvSpPr>
          <p:cNvPr id="5" name="Content Placeholder 2">
            <a:extLst>
              <a:ext uri="{FF2B5EF4-FFF2-40B4-BE49-F238E27FC236}">
                <a16:creationId xmlns:a16="http://schemas.microsoft.com/office/drawing/2014/main" id="{B9B64E89-B7F8-2C1E-C971-0233C7B50359}"/>
              </a:ext>
            </a:extLst>
          </p:cNvPr>
          <p:cNvSpPr txBox="1">
            <a:spLocks/>
          </p:cNvSpPr>
          <p:nvPr/>
        </p:nvSpPr>
        <p:spPr>
          <a:xfrm>
            <a:off x="6516560" y="2005648"/>
            <a:ext cx="5675440" cy="4021311"/>
          </a:xfrm>
          <a:prstGeom prst="rect">
            <a:avLst/>
          </a:prstGeom>
        </p:spPr>
        <p:txBody>
          <a:bodyPr vert="horz" lIns="91440" tIns="45720" rIns="91440" bIns="45720" rtlCol="0">
            <a:normAutofit/>
          </a:bodyPr>
          <a:lstStyle>
            <a:lvl1pPr marL="342900" indent="-3429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2000" b="0" i="0" kern="1200">
                <a:solidFill>
                  <a:schemeClr val="tx1"/>
                </a:solidFill>
                <a:latin typeface="+mj-lt"/>
                <a:ea typeface="+mj-ea"/>
                <a:cs typeface="+mj-cs"/>
              </a:defRPr>
            </a:lvl1pPr>
            <a:lvl2pPr marL="742950" indent="-28575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800" b="0" i="0" kern="1200">
                <a:solidFill>
                  <a:schemeClr val="tx1"/>
                </a:solidFill>
                <a:latin typeface="+mj-lt"/>
                <a:ea typeface="+mj-ea"/>
                <a:cs typeface="+mj-cs"/>
              </a:defRPr>
            </a:lvl2pPr>
            <a:lvl3pPr marL="11430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600" b="0" i="0" kern="1200">
                <a:solidFill>
                  <a:schemeClr val="tx1"/>
                </a:solidFill>
                <a:latin typeface="+mj-lt"/>
                <a:ea typeface="+mj-ea"/>
                <a:cs typeface="+mj-cs"/>
              </a:defRPr>
            </a:lvl3pPr>
            <a:lvl4pPr marL="16002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400" b="0" i="0" kern="1200">
                <a:solidFill>
                  <a:schemeClr val="tx1"/>
                </a:solidFill>
                <a:latin typeface="+mj-lt"/>
                <a:ea typeface="+mj-ea"/>
                <a:cs typeface="+mj-cs"/>
              </a:defRPr>
            </a:lvl4pPr>
            <a:lvl5pPr marL="20574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400" b="0" i="0" kern="1200">
                <a:solidFill>
                  <a:schemeClr val="tx1"/>
                </a:solidFill>
                <a:latin typeface="+mj-lt"/>
                <a:ea typeface="+mj-ea"/>
                <a:cs typeface="+mj-cs"/>
              </a:defRPr>
            </a:lvl5pPr>
            <a:lvl6pPr marL="25060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400" b="0" i="0" kern="1200">
                <a:solidFill>
                  <a:schemeClr val="tx1"/>
                </a:solidFill>
                <a:latin typeface="+mj-lt"/>
                <a:ea typeface="+mj-ea"/>
                <a:cs typeface="+mj-cs"/>
              </a:defRPr>
            </a:lvl6pPr>
            <a:lvl7pPr marL="29718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400" b="0" i="0" kern="1200">
                <a:solidFill>
                  <a:schemeClr val="tx1"/>
                </a:solidFill>
                <a:latin typeface="+mj-lt"/>
                <a:ea typeface="+mj-ea"/>
                <a:cs typeface="+mj-cs"/>
              </a:defRPr>
            </a:lvl7pPr>
            <a:lvl8pPr marL="34290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400" b="0" i="0" kern="1200">
                <a:solidFill>
                  <a:schemeClr val="tx1"/>
                </a:solidFill>
                <a:latin typeface="+mj-lt"/>
                <a:ea typeface="+mj-ea"/>
                <a:cs typeface="+mj-cs"/>
              </a:defRPr>
            </a:lvl8pPr>
            <a:lvl9pPr marL="38862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400" b="0" i="0" kern="1200">
                <a:solidFill>
                  <a:schemeClr val="tx1"/>
                </a:solidFill>
                <a:latin typeface="+mj-lt"/>
                <a:ea typeface="+mj-ea"/>
                <a:cs typeface="+mj-cs"/>
              </a:defRPr>
            </a:lvl9pPr>
          </a:lstStyle>
          <a:p>
            <a:r>
              <a:rPr lang="en-US" dirty="0"/>
              <a:t>Application Framework:</a:t>
            </a:r>
          </a:p>
          <a:p>
            <a:pPr lvl="1">
              <a:buFont typeface="Wingdings" panose="05000000000000000000" pitchFamily="2" charset="2"/>
              <a:buChar char="Ø"/>
            </a:pPr>
            <a:r>
              <a:rPr lang="en-US" dirty="0" err="1"/>
              <a:t>Streamlit</a:t>
            </a:r>
            <a:r>
              <a:rPr lang="en-US" dirty="0"/>
              <a:t> –</a:t>
            </a:r>
          </a:p>
          <a:p>
            <a:pPr lvl="2">
              <a:buFont typeface="Arial" panose="020B0604020202020204" pitchFamily="34" charset="0"/>
              <a:buChar char="•"/>
            </a:pPr>
            <a:r>
              <a:rPr lang="en-US" dirty="0"/>
              <a:t>Built the interactive web interface for transaction details.</a:t>
            </a:r>
          </a:p>
          <a:p>
            <a:pPr lvl="2">
              <a:buFont typeface="Arial" panose="020B0604020202020204" pitchFamily="34" charset="0"/>
              <a:buChar char="•"/>
            </a:pPr>
            <a:r>
              <a:rPr lang="en-US" dirty="0"/>
              <a:t>Used to display predictions and user inputs</a:t>
            </a:r>
          </a:p>
          <a:p>
            <a:pPr lvl="2">
              <a:buFont typeface="Arial" panose="020B0604020202020204" pitchFamily="34" charset="0"/>
              <a:buChar char="•"/>
            </a:pPr>
            <a:r>
              <a:rPr lang="en-US" dirty="0"/>
              <a:t>Simple, fast deployment for ML Apps.</a:t>
            </a:r>
          </a:p>
          <a:p>
            <a:r>
              <a:rPr lang="en-US" dirty="0"/>
              <a:t>Development Environment:</a:t>
            </a:r>
          </a:p>
          <a:p>
            <a:pPr lvl="1">
              <a:buFont typeface="Arial" panose="020B0604020202020204" pitchFamily="34" charset="0"/>
              <a:buChar char="•"/>
            </a:pPr>
            <a:r>
              <a:rPr lang="en-US" dirty="0" err="1"/>
              <a:t>Jupyter</a:t>
            </a:r>
            <a:r>
              <a:rPr lang="en-US" dirty="0"/>
              <a:t> Notebook for Model Training and Data Visualization.</a:t>
            </a:r>
          </a:p>
          <a:p>
            <a:pPr lvl="1">
              <a:buFont typeface="Arial" panose="020B0604020202020204" pitchFamily="34" charset="0"/>
              <a:buChar char="•"/>
            </a:pPr>
            <a:r>
              <a:rPr lang="en-US" dirty="0"/>
              <a:t>Python files for the application implementation</a:t>
            </a:r>
          </a:p>
          <a:p>
            <a:pPr marL="914400" lvl="2" indent="0">
              <a:buNone/>
            </a:pPr>
            <a:endParaRPr lang="en-US" dirty="0"/>
          </a:p>
        </p:txBody>
      </p:sp>
    </p:spTree>
    <p:extLst>
      <p:ext uri="{BB962C8B-B14F-4D97-AF65-F5344CB8AC3E}">
        <p14:creationId xmlns:p14="http://schemas.microsoft.com/office/powerpoint/2010/main" val="4214927994"/>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31" name="Rectangle 1030">
            <a:extLst>
              <a:ext uri="{FF2B5EF4-FFF2-40B4-BE49-F238E27FC236}">
                <a16:creationId xmlns:a16="http://schemas.microsoft.com/office/drawing/2014/main" id="{B4AAD3FD-83A5-4B89-9F8F-01B8870865B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003">
            <a:schemeClr val="dk2"/>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AFD35F92-50EA-0C35-A053-4D4176364328}"/>
              </a:ext>
            </a:extLst>
          </p:cNvPr>
          <p:cNvSpPr>
            <a:spLocks noGrp="1"/>
          </p:cNvSpPr>
          <p:nvPr>
            <p:ph type="title"/>
          </p:nvPr>
        </p:nvSpPr>
        <p:spPr>
          <a:xfrm>
            <a:off x="648931" y="629266"/>
            <a:ext cx="4166510" cy="1622321"/>
          </a:xfrm>
        </p:spPr>
        <p:txBody>
          <a:bodyPr>
            <a:normAutofit/>
          </a:bodyPr>
          <a:lstStyle/>
          <a:p>
            <a:pPr>
              <a:lnSpc>
                <a:spcPct val="90000"/>
              </a:lnSpc>
            </a:pPr>
            <a:r>
              <a:rPr lang="en-US" sz="3600">
                <a:solidFill>
                  <a:srgbClr val="EBEBEB"/>
                </a:solidFill>
              </a:rPr>
              <a:t>Logistic Regression Algorithm </a:t>
            </a:r>
          </a:p>
        </p:txBody>
      </p:sp>
      <p:sp>
        <p:nvSpPr>
          <p:cNvPr id="1033" name="Freeform 31">
            <a:extLst>
              <a:ext uri="{FF2B5EF4-FFF2-40B4-BE49-F238E27FC236}">
                <a16:creationId xmlns:a16="http://schemas.microsoft.com/office/drawing/2014/main" id="{61752F1D-FC0F-4103-9584-630E643CCDA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994020" y="-1"/>
            <a:ext cx="559472" cy="3709642"/>
          </a:xfrm>
          <a:custGeom>
            <a:avLst/>
            <a:gdLst>
              <a:gd name="connsiteX0" fmla="*/ 0 w 559472"/>
              <a:gd name="connsiteY0" fmla="*/ 0 h 3709642"/>
              <a:gd name="connsiteX1" fmla="*/ 473952 w 559472"/>
              <a:gd name="connsiteY1" fmla="*/ 0 h 3709642"/>
              <a:gd name="connsiteX2" fmla="*/ 485840 w 559472"/>
              <a:gd name="connsiteY2" fmla="*/ 161194 h 3709642"/>
              <a:gd name="connsiteX3" fmla="*/ 523949 w 559472"/>
              <a:gd name="connsiteY3" fmla="*/ 3672197 h 3709642"/>
              <a:gd name="connsiteX4" fmla="*/ 454748 w 559472"/>
              <a:gd name="connsiteY4" fmla="*/ 3709642 h 3709642"/>
              <a:gd name="connsiteX5" fmla="*/ 448224 w 559472"/>
              <a:gd name="connsiteY5" fmla="*/ 3510471 h 3709642"/>
              <a:gd name="connsiteX6" fmla="*/ 443564 w 559472"/>
              <a:gd name="connsiteY6" fmla="*/ 3408563 h 3709642"/>
              <a:gd name="connsiteX7" fmla="*/ 438902 w 559472"/>
              <a:gd name="connsiteY7" fmla="*/ 3304407 h 3709642"/>
              <a:gd name="connsiteX8" fmla="*/ 433941 w 559472"/>
              <a:gd name="connsiteY8" fmla="*/ 3198777 h 3709642"/>
              <a:gd name="connsiteX9" fmla="*/ 427584 w 559472"/>
              <a:gd name="connsiteY9" fmla="*/ 3092510 h 3709642"/>
              <a:gd name="connsiteX10" fmla="*/ 420988 w 559472"/>
              <a:gd name="connsiteY10" fmla="*/ 2984390 h 3709642"/>
              <a:gd name="connsiteX11" fmla="*/ 414330 w 559472"/>
              <a:gd name="connsiteY11" fmla="*/ 2874401 h 3709642"/>
              <a:gd name="connsiteX12" fmla="*/ 406840 w 559472"/>
              <a:gd name="connsiteY12" fmla="*/ 2762980 h 3709642"/>
              <a:gd name="connsiteX13" fmla="*/ 397745 w 559472"/>
              <a:gd name="connsiteY13" fmla="*/ 2650566 h 3709642"/>
              <a:gd name="connsiteX14" fmla="*/ 389154 w 559472"/>
              <a:gd name="connsiteY14" fmla="*/ 2536612 h 3709642"/>
              <a:gd name="connsiteX15" fmla="*/ 379225 w 559472"/>
              <a:gd name="connsiteY15" fmla="*/ 2421642 h 3709642"/>
              <a:gd name="connsiteX16" fmla="*/ 368316 w 559472"/>
              <a:gd name="connsiteY16" fmla="*/ 2305627 h 3709642"/>
              <a:gd name="connsiteX17" fmla="*/ 357466 w 559472"/>
              <a:gd name="connsiteY17" fmla="*/ 2189233 h 3709642"/>
              <a:gd name="connsiteX18" fmla="*/ 344982 w 559472"/>
              <a:gd name="connsiteY18" fmla="*/ 2071473 h 3709642"/>
              <a:gd name="connsiteX19" fmla="*/ 332466 w 559472"/>
              <a:gd name="connsiteY19" fmla="*/ 1952216 h 3709642"/>
              <a:gd name="connsiteX20" fmla="*/ 319121 w 559472"/>
              <a:gd name="connsiteY20" fmla="*/ 1833776 h 3709642"/>
              <a:gd name="connsiteX21" fmla="*/ 304408 w 559472"/>
              <a:gd name="connsiteY21" fmla="*/ 1713948 h 3709642"/>
              <a:gd name="connsiteX22" fmla="*/ 288685 w 559472"/>
              <a:gd name="connsiteY22" fmla="*/ 1592703 h 3709642"/>
              <a:gd name="connsiteX23" fmla="*/ 273050 w 559472"/>
              <a:gd name="connsiteY23" fmla="*/ 1471451 h 3709642"/>
              <a:gd name="connsiteX24" fmla="*/ 255813 w 559472"/>
              <a:gd name="connsiteY24" fmla="*/ 1350328 h 3709642"/>
              <a:gd name="connsiteX25" fmla="*/ 237060 w 559472"/>
              <a:gd name="connsiteY25" fmla="*/ 1227080 h 3709642"/>
              <a:gd name="connsiteX26" fmla="*/ 218488 w 559472"/>
              <a:gd name="connsiteY26" fmla="*/ 1106065 h 3709642"/>
              <a:gd name="connsiteX27" fmla="*/ 198221 w 559472"/>
              <a:gd name="connsiteY27" fmla="*/ 982940 h 3709642"/>
              <a:gd name="connsiteX28" fmla="*/ 177152 w 559472"/>
              <a:gd name="connsiteY28" fmla="*/ 858755 h 3709642"/>
              <a:gd name="connsiteX29" fmla="*/ 155551 w 559472"/>
              <a:gd name="connsiteY29" fmla="*/ 736861 h 3709642"/>
              <a:gd name="connsiteX30" fmla="*/ 131782 w 559472"/>
              <a:gd name="connsiteY30" fmla="*/ 613645 h 3709642"/>
              <a:gd name="connsiteX31" fmla="*/ 107123 w 559472"/>
              <a:gd name="connsiteY31" fmla="*/ 490500 h 3709642"/>
              <a:gd name="connsiteX32" fmla="*/ 82552 w 559472"/>
              <a:gd name="connsiteY32" fmla="*/ 367348 h 3709642"/>
              <a:gd name="connsiteX33" fmla="*/ 55608 w 559472"/>
              <a:gd name="connsiteY33" fmla="*/ 244762 h 3709642"/>
              <a:gd name="connsiteX34" fmla="*/ 28130 w 559472"/>
              <a:gd name="connsiteY34" fmla="*/ 122220 h 3709642"/>
              <a:gd name="connsiteX35" fmla="*/ 0 w 559472"/>
              <a:gd name="connsiteY35" fmla="*/ 0 h 370964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Lst>
            <a:rect l="l" t="t" r="r" b="b"/>
            <a:pathLst>
              <a:path w="559472" h="3709642">
                <a:moveTo>
                  <a:pt x="0" y="0"/>
                </a:moveTo>
                <a:lnTo>
                  <a:pt x="473952" y="0"/>
                </a:lnTo>
                <a:lnTo>
                  <a:pt x="485840" y="161194"/>
                </a:lnTo>
                <a:cubicBezTo>
                  <a:pt x="552063" y="1147770"/>
                  <a:pt x="592441" y="3086737"/>
                  <a:pt x="523949" y="3672197"/>
                </a:cubicBezTo>
                <a:cubicBezTo>
                  <a:pt x="500842" y="3684557"/>
                  <a:pt x="477855" y="3697282"/>
                  <a:pt x="454748" y="3709642"/>
                </a:cubicBezTo>
                <a:lnTo>
                  <a:pt x="448224" y="3510471"/>
                </a:lnTo>
                <a:lnTo>
                  <a:pt x="443564" y="3408563"/>
                </a:lnTo>
                <a:lnTo>
                  <a:pt x="438902" y="3304407"/>
                </a:lnTo>
                <a:lnTo>
                  <a:pt x="433941" y="3198777"/>
                </a:lnTo>
                <a:lnTo>
                  <a:pt x="427584" y="3092510"/>
                </a:lnTo>
                <a:lnTo>
                  <a:pt x="420988" y="2984390"/>
                </a:lnTo>
                <a:lnTo>
                  <a:pt x="414330" y="2874401"/>
                </a:lnTo>
                <a:lnTo>
                  <a:pt x="406840" y="2762980"/>
                </a:lnTo>
                <a:lnTo>
                  <a:pt x="397745" y="2650566"/>
                </a:lnTo>
                <a:lnTo>
                  <a:pt x="389154" y="2536612"/>
                </a:lnTo>
                <a:lnTo>
                  <a:pt x="379225" y="2421642"/>
                </a:lnTo>
                <a:lnTo>
                  <a:pt x="368316" y="2305627"/>
                </a:lnTo>
                <a:lnTo>
                  <a:pt x="357466" y="2189233"/>
                </a:lnTo>
                <a:lnTo>
                  <a:pt x="344982" y="2071473"/>
                </a:lnTo>
                <a:lnTo>
                  <a:pt x="332466" y="1952216"/>
                </a:lnTo>
                <a:lnTo>
                  <a:pt x="319121" y="1833776"/>
                </a:lnTo>
                <a:lnTo>
                  <a:pt x="304408" y="1713948"/>
                </a:lnTo>
                <a:lnTo>
                  <a:pt x="288685" y="1592703"/>
                </a:lnTo>
                <a:lnTo>
                  <a:pt x="273050" y="1471451"/>
                </a:lnTo>
                <a:lnTo>
                  <a:pt x="255813" y="1350328"/>
                </a:lnTo>
                <a:lnTo>
                  <a:pt x="237060" y="1227080"/>
                </a:lnTo>
                <a:lnTo>
                  <a:pt x="218488" y="1106065"/>
                </a:lnTo>
                <a:lnTo>
                  <a:pt x="198221" y="982940"/>
                </a:lnTo>
                <a:lnTo>
                  <a:pt x="177152" y="858755"/>
                </a:lnTo>
                <a:lnTo>
                  <a:pt x="155551" y="736861"/>
                </a:lnTo>
                <a:lnTo>
                  <a:pt x="131782" y="613645"/>
                </a:lnTo>
                <a:lnTo>
                  <a:pt x="107123" y="490500"/>
                </a:lnTo>
                <a:lnTo>
                  <a:pt x="82552" y="367348"/>
                </a:lnTo>
                <a:lnTo>
                  <a:pt x="55608" y="244762"/>
                </a:lnTo>
                <a:lnTo>
                  <a:pt x="28130" y="122220"/>
                </a:lnTo>
                <a:lnTo>
                  <a:pt x="0" y="0"/>
                </a:lnTo>
                <a:close/>
              </a:path>
            </a:pathLst>
          </a:custGeom>
          <a:solidFill>
            <a:schemeClr val="bg1">
              <a:alpha val="20000"/>
            </a:schemeClr>
          </a:solidFill>
          <a:ln>
            <a:noFill/>
          </a:ln>
        </p:spPr>
        <p:txBody>
          <a:bodyPr rtlCol="0" anchor="ctr"/>
          <a:lstStyle/>
          <a:p>
            <a:pPr algn="ctr"/>
            <a:endParaRPr lang="en-US"/>
          </a:p>
        </p:txBody>
      </p:sp>
      <p:sp useBgFill="1">
        <p:nvSpPr>
          <p:cNvPr id="1035" name="Freeform: Shape 1034">
            <a:extLst>
              <a:ext uri="{FF2B5EF4-FFF2-40B4-BE49-F238E27FC236}">
                <a16:creationId xmlns:a16="http://schemas.microsoft.com/office/drawing/2014/main" id="{70151CB7-E7DE-4917-B831-01DF9CE0130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gray">
          <a:xfrm rot="16200000">
            <a:off x="5270819" y="-63600"/>
            <a:ext cx="6858001" cy="6985200"/>
          </a:xfrm>
          <a:custGeom>
            <a:avLst/>
            <a:gdLst>
              <a:gd name="connsiteX0" fmla="*/ 6858001 w 6858001"/>
              <a:gd name="connsiteY0" fmla="*/ 1177 h 6985200"/>
              <a:gd name="connsiteX1" fmla="*/ 6858001 w 6858001"/>
              <a:gd name="connsiteY1" fmla="*/ 1344715 h 6985200"/>
              <a:gd name="connsiteX2" fmla="*/ 6858000 w 6858001"/>
              <a:gd name="connsiteY2" fmla="*/ 1344715 h 6985200"/>
              <a:gd name="connsiteX3" fmla="*/ 6858000 w 6858001"/>
              <a:gd name="connsiteY3" fmla="*/ 6985200 h 6985200"/>
              <a:gd name="connsiteX4" fmla="*/ 0 w 6858001"/>
              <a:gd name="connsiteY4" fmla="*/ 6985199 h 6985200"/>
              <a:gd name="connsiteX5" fmla="*/ 0 w 6858001"/>
              <a:gd name="connsiteY5" fmla="*/ 886772 h 6985200"/>
              <a:gd name="connsiteX6" fmla="*/ 1 w 6858001"/>
              <a:gd name="connsiteY6" fmla="*/ 886772 h 6985200"/>
              <a:gd name="connsiteX7" fmla="*/ 1 w 6858001"/>
              <a:gd name="connsiteY7" fmla="*/ 0 h 6985200"/>
              <a:gd name="connsiteX8" fmla="*/ 40463 w 6858001"/>
              <a:gd name="connsiteY8" fmla="*/ 5883 h 6985200"/>
              <a:gd name="connsiteX9" fmla="*/ 159107 w 6858001"/>
              <a:gd name="connsiteY9" fmla="*/ 23196 h 6985200"/>
              <a:gd name="connsiteX10" fmla="*/ 245518 w 6858001"/>
              <a:gd name="connsiteY10" fmla="*/ 35299 h 6985200"/>
              <a:gd name="connsiteX11" fmla="*/ 348388 w 6858001"/>
              <a:gd name="connsiteY11" fmla="*/ 48073 h 6985200"/>
              <a:gd name="connsiteX12" fmla="*/ 470460 w 6858001"/>
              <a:gd name="connsiteY12" fmla="*/ 63369 h 6985200"/>
              <a:gd name="connsiteX13" fmla="*/ 605563 w 6858001"/>
              <a:gd name="connsiteY13" fmla="*/ 79506 h 6985200"/>
              <a:gd name="connsiteX14" fmla="*/ 757810 w 6858001"/>
              <a:gd name="connsiteY14" fmla="*/ 96483 h 6985200"/>
              <a:gd name="connsiteX15" fmla="*/ 923774 w 6858001"/>
              <a:gd name="connsiteY15" fmla="*/ 114469 h 6985200"/>
              <a:gd name="connsiteX16" fmla="*/ 1104139 w 6858001"/>
              <a:gd name="connsiteY16" fmla="*/ 132454 h 6985200"/>
              <a:gd name="connsiteX17" fmla="*/ 1296163 w 6858001"/>
              <a:gd name="connsiteY17" fmla="*/ 150776 h 6985200"/>
              <a:gd name="connsiteX18" fmla="*/ 1503275 w 6858001"/>
              <a:gd name="connsiteY18" fmla="*/ 167753 h 6985200"/>
              <a:gd name="connsiteX19" fmla="*/ 1719988 w 6858001"/>
              <a:gd name="connsiteY19" fmla="*/ 184058 h 6985200"/>
              <a:gd name="connsiteX20" fmla="*/ 1949045 w 6858001"/>
              <a:gd name="connsiteY20" fmla="*/ 198849 h 6985200"/>
              <a:gd name="connsiteX21" fmla="*/ 2187703 w 6858001"/>
              <a:gd name="connsiteY21" fmla="*/ 212969 h 6985200"/>
              <a:gd name="connsiteX22" fmla="*/ 2436649 w 6858001"/>
              <a:gd name="connsiteY22" fmla="*/ 226248 h 6985200"/>
              <a:gd name="connsiteX23" fmla="*/ 2564208 w 6858001"/>
              <a:gd name="connsiteY23" fmla="*/ 230955 h 6985200"/>
              <a:gd name="connsiteX24" fmla="*/ 2694509 w 6858001"/>
              <a:gd name="connsiteY24" fmla="*/ 236165 h 6985200"/>
              <a:gd name="connsiteX25" fmla="*/ 2826869 w 6858001"/>
              <a:gd name="connsiteY25" fmla="*/ 241040 h 6985200"/>
              <a:gd name="connsiteX26" fmla="*/ 2959914 w 6858001"/>
              <a:gd name="connsiteY26" fmla="*/ 244234 h 6985200"/>
              <a:gd name="connsiteX27" fmla="*/ 3095702 w 6858001"/>
              <a:gd name="connsiteY27" fmla="*/ 247091 h 6985200"/>
              <a:gd name="connsiteX28" fmla="*/ 3232862 w 6858001"/>
              <a:gd name="connsiteY28" fmla="*/ 250117 h 6985200"/>
              <a:gd name="connsiteX29" fmla="*/ 3372766 w 6858001"/>
              <a:gd name="connsiteY29" fmla="*/ 252134 h 6985200"/>
              <a:gd name="connsiteX30" fmla="*/ 3514040 w 6858001"/>
              <a:gd name="connsiteY30" fmla="*/ 252134 h 6985200"/>
              <a:gd name="connsiteX31" fmla="*/ 3656686 w 6858001"/>
              <a:gd name="connsiteY31" fmla="*/ 253142 h 6985200"/>
              <a:gd name="connsiteX32" fmla="*/ 3800705 w 6858001"/>
              <a:gd name="connsiteY32" fmla="*/ 252134 h 6985200"/>
              <a:gd name="connsiteX33" fmla="*/ 3946780 w 6858001"/>
              <a:gd name="connsiteY33" fmla="*/ 250117 h 6985200"/>
              <a:gd name="connsiteX34" fmla="*/ 4092856 w 6858001"/>
              <a:gd name="connsiteY34" fmla="*/ 248268 h 6985200"/>
              <a:gd name="connsiteX35" fmla="*/ 4240988 w 6858001"/>
              <a:gd name="connsiteY35" fmla="*/ 244234 h 6985200"/>
              <a:gd name="connsiteX36" fmla="*/ 4390492 w 6858001"/>
              <a:gd name="connsiteY36" fmla="*/ 240032 h 6985200"/>
              <a:gd name="connsiteX37" fmla="*/ 4539997 w 6858001"/>
              <a:gd name="connsiteY37" fmla="*/ 235157 h 6985200"/>
              <a:gd name="connsiteX38" fmla="*/ 4690873 w 6858001"/>
              <a:gd name="connsiteY38" fmla="*/ 228266 h 6985200"/>
              <a:gd name="connsiteX39" fmla="*/ 4843120 w 6858001"/>
              <a:gd name="connsiteY39" fmla="*/ 220029 h 6985200"/>
              <a:gd name="connsiteX40" fmla="*/ 4996054 w 6858001"/>
              <a:gd name="connsiteY40" fmla="*/ 212129 h 6985200"/>
              <a:gd name="connsiteX41" fmla="*/ 5148987 w 6858001"/>
              <a:gd name="connsiteY41" fmla="*/ 202044 h 6985200"/>
              <a:gd name="connsiteX42" fmla="*/ 5303978 w 6858001"/>
              <a:gd name="connsiteY42" fmla="*/ 189941 h 6985200"/>
              <a:gd name="connsiteX43" fmla="*/ 5456911 w 6858001"/>
              <a:gd name="connsiteY43" fmla="*/ 177839 h 6985200"/>
              <a:gd name="connsiteX44" fmla="*/ 5612588 w 6858001"/>
              <a:gd name="connsiteY44" fmla="*/ 163887 h 6985200"/>
              <a:gd name="connsiteX45" fmla="*/ 5768950 w 6858001"/>
              <a:gd name="connsiteY45" fmla="*/ 148591 h 6985200"/>
              <a:gd name="connsiteX46" fmla="*/ 5923255 w 6858001"/>
              <a:gd name="connsiteY46" fmla="*/ 132455 h 6985200"/>
              <a:gd name="connsiteX47" fmla="*/ 6079618 w 6858001"/>
              <a:gd name="connsiteY47" fmla="*/ 113629 h 6985200"/>
              <a:gd name="connsiteX48" fmla="*/ 6235294 w 6858001"/>
              <a:gd name="connsiteY48" fmla="*/ 93458 h 6985200"/>
              <a:gd name="connsiteX49" fmla="*/ 6391657 w 6858001"/>
              <a:gd name="connsiteY49" fmla="*/ 73455 h 6985200"/>
              <a:gd name="connsiteX50" fmla="*/ 6547333 w 6858001"/>
              <a:gd name="connsiteY50" fmla="*/ 50091 h 6985200"/>
              <a:gd name="connsiteX51" fmla="*/ 6702324 w 6858001"/>
              <a:gd name="connsiteY51" fmla="*/ 26222 h 69852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Lst>
            <a:rect l="l" t="t" r="r" b="b"/>
            <a:pathLst>
              <a:path w="6858001" h="6985200">
                <a:moveTo>
                  <a:pt x="6858001" y="1177"/>
                </a:moveTo>
                <a:lnTo>
                  <a:pt x="6858001" y="1344715"/>
                </a:lnTo>
                <a:lnTo>
                  <a:pt x="6858000" y="1344715"/>
                </a:lnTo>
                <a:lnTo>
                  <a:pt x="6858000" y="6985200"/>
                </a:lnTo>
                <a:lnTo>
                  <a:pt x="0" y="6985199"/>
                </a:lnTo>
                <a:lnTo>
                  <a:pt x="0" y="886772"/>
                </a:lnTo>
                <a:lnTo>
                  <a:pt x="1" y="886772"/>
                </a:lnTo>
                <a:lnTo>
                  <a:pt x="1" y="0"/>
                </a:lnTo>
                <a:lnTo>
                  <a:pt x="40463" y="5883"/>
                </a:lnTo>
                <a:lnTo>
                  <a:pt x="159107" y="23196"/>
                </a:lnTo>
                <a:lnTo>
                  <a:pt x="245518" y="35299"/>
                </a:lnTo>
                <a:lnTo>
                  <a:pt x="348388" y="48073"/>
                </a:lnTo>
                <a:lnTo>
                  <a:pt x="470460" y="63369"/>
                </a:lnTo>
                <a:lnTo>
                  <a:pt x="605563" y="79506"/>
                </a:lnTo>
                <a:lnTo>
                  <a:pt x="757810" y="96483"/>
                </a:lnTo>
                <a:lnTo>
                  <a:pt x="923774" y="114469"/>
                </a:lnTo>
                <a:lnTo>
                  <a:pt x="1104139" y="132454"/>
                </a:lnTo>
                <a:lnTo>
                  <a:pt x="1296163" y="150776"/>
                </a:lnTo>
                <a:lnTo>
                  <a:pt x="1503275" y="167753"/>
                </a:lnTo>
                <a:lnTo>
                  <a:pt x="1719988" y="184058"/>
                </a:lnTo>
                <a:lnTo>
                  <a:pt x="1949045" y="198849"/>
                </a:lnTo>
                <a:lnTo>
                  <a:pt x="2187703" y="212969"/>
                </a:lnTo>
                <a:lnTo>
                  <a:pt x="2436649" y="226248"/>
                </a:lnTo>
                <a:lnTo>
                  <a:pt x="2564208" y="230955"/>
                </a:lnTo>
                <a:lnTo>
                  <a:pt x="2694509" y="236165"/>
                </a:lnTo>
                <a:lnTo>
                  <a:pt x="2826869" y="241040"/>
                </a:lnTo>
                <a:lnTo>
                  <a:pt x="2959914" y="244234"/>
                </a:lnTo>
                <a:lnTo>
                  <a:pt x="3095702" y="247091"/>
                </a:lnTo>
                <a:lnTo>
                  <a:pt x="3232862" y="250117"/>
                </a:lnTo>
                <a:lnTo>
                  <a:pt x="3372766" y="252134"/>
                </a:lnTo>
                <a:lnTo>
                  <a:pt x="3514040" y="252134"/>
                </a:lnTo>
                <a:lnTo>
                  <a:pt x="3656686" y="253142"/>
                </a:lnTo>
                <a:lnTo>
                  <a:pt x="3800705" y="252134"/>
                </a:lnTo>
                <a:lnTo>
                  <a:pt x="3946780" y="250117"/>
                </a:lnTo>
                <a:lnTo>
                  <a:pt x="4092856" y="248268"/>
                </a:lnTo>
                <a:lnTo>
                  <a:pt x="4240988" y="244234"/>
                </a:lnTo>
                <a:lnTo>
                  <a:pt x="4390492" y="240032"/>
                </a:lnTo>
                <a:lnTo>
                  <a:pt x="4539997" y="235157"/>
                </a:lnTo>
                <a:lnTo>
                  <a:pt x="4690873" y="228266"/>
                </a:lnTo>
                <a:lnTo>
                  <a:pt x="4843120" y="220029"/>
                </a:lnTo>
                <a:lnTo>
                  <a:pt x="4996054" y="212129"/>
                </a:lnTo>
                <a:lnTo>
                  <a:pt x="5148987" y="202044"/>
                </a:lnTo>
                <a:lnTo>
                  <a:pt x="5303978" y="189941"/>
                </a:lnTo>
                <a:lnTo>
                  <a:pt x="5456911" y="177839"/>
                </a:lnTo>
                <a:lnTo>
                  <a:pt x="5612588" y="163887"/>
                </a:lnTo>
                <a:lnTo>
                  <a:pt x="5768950" y="148591"/>
                </a:lnTo>
                <a:lnTo>
                  <a:pt x="5923255" y="132455"/>
                </a:lnTo>
                <a:lnTo>
                  <a:pt x="6079618" y="113629"/>
                </a:lnTo>
                <a:lnTo>
                  <a:pt x="6235294" y="93458"/>
                </a:lnTo>
                <a:lnTo>
                  <a:pt x="6391657" y="73455"/>
                </a:lnTo>
                <a:lnTo>
                  <a:pt x="6547333" y="50091"/>
                </a:lnTo>
                <a:lnTo>
                  <a:pt x="6702324" y="26222"/>
                </a:lnTo>
                <a:close/>
              </a:path>
            </a:pathLst>
          </a:custGeom>
          <a:ln>
            <a:noFill/>
          </a:ln>
        </p:spPr>
        <p:txBody>
          <a:bodyPr/>
          <a:lstStyle/>
          <a:p>
            <a:endParaRPr lang="en-US"/>
          </a:p>
        </p:txBody>
      </p:sp>
      <p:pic>
        <p:nvPicPr>
          <p:cNvPr id="1026" name="Picture 2" descr="Logistic Regression ...">
            <a:extLst>
              <a:ext uri="{FF2B5EF4-FFF2-40B4-BE49-F238E27FC236}">
                <a16:creationId xmlns:a16="http://schemas.microsoft.com/office/drawing/2014/main" id="{00D2C1DC-22D9-DBAC-0D5A-2BD9732C32D7}"/>
              </a:ext>
            </a:extLst>
          </p:cNvPr>
          <p:cNvPicPr>
            <a:picLocks noChangeAspect="1" noChangeArrowheads="1"/>
          </p:cNvPicPr>
          <p:nvPr/>
        </p:nvPicPr>
        <p:blipFill>
          <a:blip r:embed="rId2">
            <a:extLst>
              <a:ext uri="{28A0092B-C50C-407E-A947-70E740481C1C}">
                <a14:useLocalDpi xmlns:a14="http://schemas.microsoft.com/office/drawing/2010/main" val="0"/>
              </a:ext>
            </a:extLst>
          </a:blip>
          <a:stretch>
            <a:fillRect/>
          </a:stretch>
        </p:blipFill>
        <p:spPr bwMode="auto">
          <a:xfrm>
            <a:off x="6093992" y="1615672"/>
            <a:ext cx="5449889" cy="3626653"/>
          </a:xfrm>
          <a:prstGeom prst="rect">
            <a:avLst/>
          </a:prstGeom>
          <a:noFill/>
          <a:effectLst/>
          <a:extLst>
            <a:ext uri="{909E8E84-426E-40DD-AFC4-6F175D3DCCD1}">
              <a14:hiddenFill xmlns:a14="http://schemas.microsoft.com/office/drawing/2010/main">
                <a:solidFill>
                  <a:srgbClr val="FFFFFF"/>
                </a:solidFill>
              </a14:hiddenFill>
            </a:ext>
          </a:extLst>
        </p:spPr>
      </p:pic>
      <p:sp>
        <p:nvSpPr>
          <p:cNvPr id="1037" name="Rectangle 1036">
            <a:extLst>
              <a:ext uri="{FF2B5EF4-FFF2-40B4-BE49-F238E27FC236}">
                <a16:creationId xmlns:a16="http://schemas.microsoft.com/office/drawing/2014/main" id="{A92A1116-1C84-41DF-B803-1F7B0883EC8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0442448"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3" name="Content Placeholder 2">
            <a:extLst>
              <a:ext uri="{FF2B5EF4-FFF2-40B4-BE49-F238E27FC236}">
                <a16:creationId xmlns:a16="http://schemas.microsoft.com/office/drawing/2014/main" id="{089076AF-82DB-B236-3D69-511B04F15816}"/>
              </a:ext>
            </a:extLst>
          </p:cNvPr>
          <p:cNvSpPr>
            <a:spLocks noGrp="1"/>
          </p:cNvSpPr>
          <p:nvPr>
            <p:ph idx="1"/>
          </p:nvPr>
        </p:nvSpPr>
        <p:spPr>
          <a:xfrm>
            <a:off x="648931" y="2438400"/>
            <a:ext cx="4166509" cy="3785419"/>
          </a:xfrm>
        </p:spPr>
        <p:txBody>
          <a:bodyPr>
            <a:normAutofit/>
          </a:bodyPr>
          <a:lstStyle/>
          <a:p>
            <a:pPr>
              <a:lnSpc>
                <a:spcPct val="90000"/>
              </a:lnSpc>
            </a:pPr>
            <a:r>
              <a:rPr lang="en-US" sz="1700">
                <a:solidFill>
                  <a:srgbClr val="EBEBEB"/>
                </a:solidFill>
              </a:rPr>
              <a:t>What is Logistic Regression:</a:t>
            </a:r>
          </a:p>
          <a:p>
            <a:pPr marL="457200" lvl="1" indent="0">
              <a:lnSpc>
                <a:spcPct val="90000"/>
              </a:lnSpc>
              <a:buNone/>
            </a:pPr>
            <a:r>
              <a:rPr lang="en-US" sz="1700">
                <a:solidFill>
                  <a:srgbClr val="EBEBEB"/>
                </a:solidFill>
              </a:rPr>
              <a:t>It is a supervised classification algorithm used to predict whether an input belongs to class 0 or class 1 (Legitimate or Fraud).</a:t>
            </a:r>
          </a:p>
          <a:p>
            <a:pPr marL="457200" lvl="1" indent="0">
              <a:lnSpc>
                <a:spcPct val="90000"/>
              </a:lnSpc>
              <a:buNone/>
            </a:pPr>
            <a:r>
              <a:rPr lang="en-US" sz="1700">
                <a:solidFill>
                  <a:srgbClr val="EBEBEB"/>
                </a:solidFill>
              </a:rPr>
              <a:t>Works by calculating a weighted combination of input features and passing it through a sigmoid function to output probability between 0 and 1.</a:t>
            </a:r>
          </a:p>
          <a:p>
            <a:pPr marL="457200" lvl="1" indent="0">
              <a:lnSpc>
                <a:spcPct val="90000"/>
              </a:lnSpc>
              <a:buNone/>
            </a:pPr>
            <a:r>
              <a:rPr lang="en-US" sz="1700">
                <a:solidFill>
                  <a:srgbClr val="EBEBEB"/>
                </a:solidFill>
              </a:rPr>
              <a:t>If Probability &gt; Threshold (0.5), the model predicts Fraud = 1, Otherwise Legit = 0</a:t>
            </a:r>
          </a:p>
          <a:p>
            <a:pPr marL="457200" lvl="1" indent="0">
              <a:lnSpc>
                <a:spcPct val="90000"/>
              </a:lnSpc>
              <a:buNone/>
            </a:pPr>
            <a:endParaRPr lang="en-US" sz="1700">
              <a:solidFill>
                <a:srgbClr val="EBEBEB"/>
              </a:solidFill>
            </a:endParaRPr>
          </a:p>
        </p:txBody>
      </p:sp>
    </p:spTree>
    <p:extLst>
      <p:ext uri="{BB962C8B-B14F-4D97-AF65-F5344CB8AC3E}">
        <p14:creationId xmlns:p14="http://schemas.microsoft.com/office/powerpoint/2010/main" val="581183839"/>
      </p:ext>
    </p:extLst>
  </p:cSld>
  <p:clrMapOvr>
    <a:overrideClrMapping bg1="lt1" tx1="dk1" bg2="lt2" tx2="dk2" accent1="accent1" accent2="accent2" accent3="accent3" accent4="accent4" accent5="accent5" accent6="accent6" hlink="hlink" folHlink="folHlink"/>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EA4759C-9B77-6CF1-20EE-E5C2E780420F}"/>
              </a:ext>
            </a:extLst>
          </p:cNvPr>
          <p:cNvSpPr>
            <a:spLocks noGrp="1"/>
          </p:cNvSpPr>
          <p:nvPr>
            <p:ph type="title"/>
          </p:nvPr>
        </p:nvSpPr>
        <p:spPr/>
        <p:txBody>
          <a:bodyPr/>
          <a:lstStyle/>
          <a:p>
            <a:r>
              <a:rPr lang="en-US" dirty="0"/>
              <a:t>How Logistic Regression Works</a:t>
            </a:r>
          </a:p>
        </p:txBody>
      </p:sp>
      <p:sp>
        <p:nvSpPr>
          <p:cNvPr id="3" name="Content Placeholder 2">
            <a:extLst>
              <a:ext uri="{FF2B5EF4-FFF2-40B4-BE49-F238E27FC236}">
                <a16:creationId xmlns:a16="http://schemas.microsoft.com/office/drawing/2014/main" id="{53E3D6CC-2EDB-3C8D-566A-1D6E1C208013}"/>
              </a:ext>
            </a:extLst>
          </p:cNvPr>
          <p:cNvSpPr>
            <a:spLocks noGrp="1"/>
          </p:cNvSpPr>
          <p:nvPr>
            <p:ph idx="1"/>
          </p:nvPr>
        </p:nvSpPr>
        <p:spPr/>
        <p:txBody>
          <a:bodyPr/>
          <a:lstStyle/>
          <a:p>
            <a:pPr marL="457200" indent="-457200">
              <a:buAutoNum type="arabicPeriod"/>
            </a:pPr>
            <a:r>
              <a:rPr lang="en-US" dirty="0"/>
              <a:t>Takes input features – Transaction amount, account balance, transaction type, etc.)</a:t>
            </a:r>
          </a:p>
          <a:p>
            <a:pPr marL="457200" indent="-457200">
              <a:buAutoNum type="arabicPeriod"/>
            </a:pPr>
            <a:r>
              <a:rPr lang="en-US" dirty="0"/>
              <a:t>Compute Linear Equation:</a:t>
            </a:r>
          </a:p>
          <a:p>
            <a:pPr marL="400050" lvl="1" indent="0">
              <a:buNone/>
            </a:pPr>
            <a:r>
              <a:rPr lang="en-US" dirty="0"/>
              <a:t>Z = w1x1 + w2x2 + … + b</a:t>
            </a:r>
          </a:p>
          <a:p>
            <a:pPr marL="457200" indent="-457200">
              <a:buAutoNum type="arabicPeriod"/>
            </a:pPr>
            <a:r>
              <a:rPr lang="en-US" dirty="0"/>
              <a:t>Apply the sigmoid function: </a:t>
            </a:r>
          </a:p>
          <a:p>
            <a:pPr marL="400050" lvl="1" indent="0">
              <a:buNone/>
            </a:pPr>
            <a:r>
              <a:rPr lang="pl-PL" dirty="0"/>
              <a:t>σ(z)=</a:t>
            </a:r>
            <a:r>
              <a:rPr lang="en-US" dirty="0"/>
              <a:t>1 / (</a:t>
            </a:r>
            <a:r>
              <a:rPr lang="pl-PL" dirty="0"/>
              <a:t>1+e</a:t>
            </a:r>
            <a:r>
              <a:rPr lang="en-US" dirty="0"/>
              <a:t>^-</a:t>
            </a:r>
            <a:r>
              <a:rPr lang="pl-PL" dirty="0"/>
              <a:t>z</a:t>
            </a:r>
            <a:r>
              <a:rPr lang="en-US" dirty="0"/>
              <a:t>)</a:t>
            </a:r>
            <a:r>
              <a:rPr lang="pl-PL" dirty="0"/>
              <a:t>​</a:t>
            </a:r>
            <a:endParaRPr lang="en-US" dirty="0"/>
          </a:p>
          <a:p>
            <a:pPr marL="457200" indent="-457200">
              <a:buAutoNum type="arabicPeriod"/>
            </a:pPr>
            <a:r>
              <a:rPr lang="en-US" dirty="0"/>
              <a:t>Outputs a probability of fraud</a:t>
            </a:r>
          </a:p>
          <a:p>
            <a:pPr marL="457200" indent="-457200">
              <a:buAutoNum type="arabicPeriod"/>
            </a:pPr>
            <a:r>
              <a:rPr lang="en-US" dirty="0"/>
              <a:t>Compares probability to threshold set to 0.5 </a:t>
            </a:r>
            <a:r>
              <a:rPr lang="en-US" dirty="0">
                <a:sym typeface="Wingdings" panose="05000000000000000000" pitchFamily="2" charset="2"/>
              </a:rPr>
              <a:t> outputs class (0 or 1)</a:t>
            </a:r>
            <a:endParaRPr lang="en-US" dirty="0"/>
          </a:p>
          <a:p>
            <a:pPr marL="400050" lvl="1" indent="0">
              <a:buNone/>
            </a:pPr>
            <a:endParaRPr lang="en-US" dirty="0"/>
          </a:p>
          <a:p>
            <a:pPr marL="400050" lvl="1" indent="0">
              <a:buNone/>
            </a:pPr>
            <a:endParaRPr lang="en-US" dirty="0"/>
          </a:p>
        </p:txBody>
      </p:sp>
    </p:spTree>
    <p:extLst>
      <p:ext uri="{BB962C8B-B14F-4D97-AF65-F5344CB8AC3E}">
        <p14:creationId xmlns:p14="http://schemas.microsoft.com/office/powerpoint/2010/main" val="1427510070"/>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FC10148-3A57-6525-A0C9-AC831BE7CF57}"/>
              </a:ext>
            </a:extLst>
          </p:cNvPr>
          <p:cNvSpPr>
            <a:spLocks noGrp="1"/>
          </p:cNvSpPr>
          <p:nvPr>
            <p:ph type="title"/>
          </p:nvPr>
        </p:nvSpPr>
        <p:spPr/>
        <p:txBody>
          <a:bodyPr/>
          <a:lstStyle/>
          <a:p>
            <a:r>
              <a:rPr lang="en-US" dirty="0"/>
              <a:t>Model Performance:</a:t>
            </a:r>
          </a:p>
        </p:txBody>
      </p:sp>
      <p:pic>
        <p:nvPicPr>
          <p:cNvPr id="5" name="Content Placeholder 4">
            <a:extLst>
              <a:ext uri="{FF2B5EF4-FFF2-40B4-BE49-F238E27FC236}">
                <a16:creationId xmlns:a16="http://schemas.microsoft.com/office/drawing/2014/main" id="{265D2DCD-7B5D-67E1-DC85-B0E0C2740EC4}"/>
              </a:ext>
            </a:extLst>
          </p:cNvPr>
          <p:cNvPicPr>
            <a:picLocks noGrp="1" noChangeAspect="1"/>
          </p:cNvPicPr>
          <p:nvPr>
            <p:ph idx="1"/>
          </p:nvPr>
        </p:nvPicPr>
        <p:blipFill>
          <a:blip r:embed="rId2"/>
          <a:stretch>
            <a:fillRect/>
          </a:stretch>
        </p:blipFill>
        <p:spPr>
          <a:xfrm>
            <a:off x="728795" y="1479173"/>
            <a:ext cx="5249008" cy="2562583"/>
          </a:xfrm>
          <a:prstGeom prst="rect">
            <a:avLst/>
          </a:prstGeom>
        </p:spPr>
      </p:pic>
      <p:pic>
        <p:nvPicPr>
          <p:cNvPr id="7" name="Picture 6">
            <a:extLst>
              <a:ext uri="{FF2B5EF4-FFF2-40B4-BE49-F238E27FC236}">
                <a16:creationId xmlns:a16="http://schemas.microsoft.com/office/drawing/2014/main" id="{91926B0A-EC78-CA38-A580-44F090A58AA1}"/>
              </a:ext>
            </a:extLst>
          </p:cNvPr>
          <p:cNvPicPr>
            <a:picLocks noChangeAspect="1"/>
          </p:cNvPicPr>
          <p:nvPr/>
        </p:nvPicPr>
        <p:blipFill>
          <a:blip r:embed="rId3"/>
          <a:stretch>
            <a:fillRect/>
          </a:stretch>
        </p:blipFill>
        <p:spPr>
          <a:xfrm>
            <a:off x="728795" y="4207969"/>
            <a:ext cx="3962953" cy="1086002"/>
          </a:xfrm>
          <a:prstGeom prst="rect">
            <a:avLst/>
          </a:prstGeom>
        </p:spPr>
      </p:pic>
      <p:sp>
        <p:nvSpPr>
          <p:cNvPr id="8" name="TextBox 7">
            <a:extLst>
              <a:ext uri="{FF2B5EF4-FFF2-40B4-BE49-F238E27FC236}">
                <a16:creationId xmlns:a16="http://schemas.microsoft.com/office/drawing/2014/main" id="{53C1F7CF-7C71-A687-AEA2-03C0CF46E187}"/>
              </a:ext>
            </a:extLst>
          </p:cNvPr>
          <p:cNvSpPr txBox="1"/>
          <p:nvPr/>
        </p:nvSpPr>
        <p:spPr>
          <a:xfrm>
            <a:off x="6778689" y="2024172"/>
            <a:ext cx="4362061" cy="369332"/>
          </a:xfrm>
          <a:prstGeom prst="rect">
            <a:avLst/>
          </a:prstGeom>
          <a:noFill/>
        </p:spPr>
        <p:txBody>
          <a:bodyPr wrap="square" rtlCol="0">
            <a:spAutoFit/>
          </a:bodyPr>
          <a:lstStyle/>
          <a:p>
            <a:r>
              <a:rPr lang="en-US" dirty="0"/>
              <a:t>Low Precision = Lot of False Positives!</a:t>
            </a:r>
          </a:p>
        </p:txBody>
      </p:sp>
    </p:spTree>
    <p:extLst>
      <p:ext uri="{BB962C8B-B14F-4D97-AF65-F5344CB8AC3E}">
        <p14:creationId xmlns:p14="http://schemas.microsoft.com/office/powerpoint/2010/main" val="526586239"/>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E359A5D-A0FE-50EE-DD7E-E51F72974F7E}"/>
              </a:ext>
            </a:extLst>
          </p:cNvPr>
          <p:cNvSpPr>
            <a:spLocks noGrp="1"/>
          </p:cNvSpPr>
          <p:nvPr>
            <p:ph type="title"/>
          </p:nvPr>
        </p:nvSpPr>
        <p:spPr/>
        <p:txBody>
          <a:bodyPr/>
          <a:lstStyle/>
          <a:p>
            <a:r>
              <a:rPr lang="en-US" dirty="0"/>
              <a:t>Logistic Regression: What went Wrong</a:t>
            </a:r>
          </a:p>
        </p:txBody>
      </p:sp>
      <p:sp>
        <p:nvSpPr>
          <p:cNvPr id="3" name="Content Placeholder 2">
            <a:extLst>
              <a:ext uri="{FF2B5EF4-FFF2-40B4-BE49-F238E27FC236}">
                <a16:creationId xmlns:a16="http://schemas.microsoft.com/office/drawing/2014/main" id="{F68F4730-E03D-60BA-E196-10A436F4A6F2}"/>
              </a:ext>
            </a:extLst>
          </p:cNvPr>
          <p:cNvSpPr>
            <a:spLocks noGrp="1"/>
          </p:cNvSpPr>
          <p:nvPr>
            <p:ph idx="1"/>
          </p:nvPr>
        </p:nvSpPr>
        <p:spPr/>
        <p:txBody>
          <a:bodyPr>
            <a:normAutofit lnSpcReduction="10000"/>
          </a:bodyPr>
          <a:lstStyle/>
          <a:p>
            <a:pPr marL="457200" indent="-457200">
              <a:buAutoNum type="arabicPeriod"/>
            </a:pPr>
            <a:r>
              <a:rPr lang="en-US" dirty="0"/>
              <a:t>The data was Highly Imbalanced:</a:t>
            </a:r>
          </a:p>
          <a:p>
            <a:pPr marL="400050" lvl="1" indent="0" defTabSz="914400" eaLnBrk="0" fontAlgn="base" hangingPunct="0">
              <a:spcBef>
                <a:spcPct val="0"/>
              </a:spcBef>
              <a:spcAft>
                <a:spcPct val="0"/>
              </a:spcAft>
              <a:buClrTx/>
              <a:buSzTx/>
              <a:buFontTx/>
              <a:buChar char="•"/>
            </a:pPr>
            <a:r>
              <a:rPr lang="en-US" sz="1600" dirty="0">
                <a:latin typeface="Arial" panose="020B0604020202020204" pitchFamily="34" charset="0"/>
              </a:rPr>
              <a:t>Less than 1% of the entire data was fraud.</a:t>
            </a:r>
          </a:p>
          <a:p>
            <a:pPr marL="457200" indent="-457200">
              <a:buAutoNum type="arabicPeriod"/>
            </a:pPr>
            <a:r>
              <a:rPr lang="en-US" dirty="0"/>
              <a:t>Logistic Regression is too simple:</a:t>
            </a:r>
          </a:p>
          <a:p>
            <a:pPr marL="400050" lvl="1" indent="0" defTabSz="914400" eaLnBrk="0" fontAlgn="base" hangingPunct="0">
              <a:spcBef>
                <a:spcPct val="0"/>
              </a:spcBef>
              <a:spcAft>
                <a:spcPct val="0"/>
              </a:spcAft>
              <a:buClrTx/>
              <a:buSzTx/>
              <a:buFontTx/>
              <a:buChar char="•"/>
            </a:pPr>
            <a:r>
              <a:rPr lang="en-US" altLang="en-US" sz="1600" dirty="0">
                <a:latin typeface="Arial" panose="020B0604020202020204" pitchFamily="34" charset="0"/>
              </a:rPr>
              <a:t>It assumes </a:t>
            </a:r>
            <a:r>
              <a:rPr lang="en-US" altLang="en-US" sz="1600" b="1" dirty="0">
                <a:latin typeface="Arial" panose="020B0604020202020204" pitchFamily="34" charset="0"/>
              </a:rPr>
              <a:t>linear separation</a:t>
            </a:r>
            <a:r>
              <a:rPr lang="en-US" altLang="en-US" sz="1600" dirty="0">
                <a:latin typeface="Arial" panose="020B0604020202020204" pitchFamily="34" charset="0"/>
              </a:rPr>
              <a:t>, but fraud patterns are </a:t>
            </a:r>
            <a:r>
              <a:rPr lang="en-US" altLang="en-US" sz="1600" b="1" dirty="0">
                <a:latin typeface="Arial" panose="020B0604020202020204" pitchFamily="34" charset="0"/>
              </a:rPr>
              <a:t>non-linear and complex</a:t>
            </a:r>
            <a:r>
              <a:rPr lang="en-US" altLang="en-US" sz="1600" dirty="0">
                <a:latin typeface="Arial" panose="020B0604020202020204" pitchFamily="34" charset="0"/>
              </a:rPr>
              <a:t>.</a:t>
            </a:r>
          </a:p>
          <a:p>
            <a:pPr marL="400050" lvl="1" indent="0" defTabSz="914400" eaLnBrk="0" fontAlgn="base" hangingPunct="0">
              <a:spcBef>
                <a:spcPct val="0"/>
              </a:spcBef>
              <a:spcAft>
                <a:spcPct val="0"/>
              </a:spcAft>
              <a:buClrTx/>
              <a:buSzTx/>
              <a:buFontTx/>
              <a:buChar char="•"/>
            </a:pPr>
            <a:r>
              <a:rPr lang="en-US" altLang="en-US" sz="1600" dirty="0">
                <a:latin typeface="Arial" panose="020B0604020202020204" pitchFamily="34" charset="0"/>
              </a:rPr>
              <a:t>Fails to capture interactions between features like:</a:t>
            </a:r>
          </a:p>
          <a:p>
            <a:pPr marL="1085850" lvl="2" indent="-285750" defTabSz="914400" eaLnBrk="0" fontAlgn="base" hangingPunct="0">
              <a:spcBef>
                <a:spcPct val="0"/>
              </a:spcBef>
              <a:spcAft>
                <a:spcPct val="0"/>
              </a:spcAft>
              <a:buClrTx/>
              <a:buSzTx/>
              <a:buFont typeface="Courier New" panose="02070309020205020404" pitchFamily="49" charset="0"/>
              <a:buChar char="o"/>
            </a:pPr>
            <a:r>
              <a:rPr lang="en-US" altLang="en-US" sz="1400" dirty="0">
                <a:latin typeface="Arial" panose="020B0604020202020204" pitchFamily="34" charset="0"/>
              </a:rPr>
              <a:t>sudden balance drops</a:t>
            </a:r>
          </a:p>
          <a:p>
            <a:pPr marL="1085850" lvl="2" indent="-285750" defTabSz="914400" eaLnBrk="0" fontAlgn="base" hangingPunct="0">
              <a:spcBef>
                <a:spcPct val="0"/>
              </a:spcBef>
              <a:spcAft>
                <a:spcPct val="0"/>
              </a:spcAft>
              <a:buClrTx/>
              <a:buSzTx/>
              <a:buFont typeface="Courier New" panose="02070309020205020404" pitchFamily="49" charset="0"/>
              <a:buChar char="o"/>
            </a:pPr>
            <a:r>
              <a:rPr lang="en-US" altLang="en-US" sz="1400" dirty="0">
                <a:latin typeface="Arial" panose="020B0604020202020204" pitchFamily="34" charset="0"/>
              </a:rPr>
              <a:t>chain of transfers</a:t>
            </a:r>
          </a:p>
          <a:p>
            <a:pPr marL="1085850" lvl="2" indent="-285750" defTabSz="914400" eaLnBrk="0" fontAlgn="base" hangingPunct="0">
              <a:spcBef>
                <a:spcPct val="0"/>
              </a:spcBef>
              <a:spcAft>
                <a:spcPct val="0"/>
              </a:spcAft>
              <a:buClrTx/>
              <a:buSzTx/>
              <a:buFont typeface="Courier New" panose="02070309020205020404" pitchFamily="49" charset="0"/>
              <a:buChar char="o"/>
            </a:pPr>
            <a:r>
              <a:rPr lang="en-US" altLang="en-US" sz="1400" dirty="0">
                <a:latin typeface="Arial" panose="020B0604020202020204" pitchFamily="34" charset="0"/>
              </a:rPr>
              <a:t>unusual patterns in destination accounts</a:t>
            </a:r>
          </a:p>
          <a:p>
            <a:pPr marL="1085850" lvl="2" indent="-285750" defTabSz="914400" eaLnBrk="0" fontAlgn="base" hangingPunct="0">
              <a:spcBef>
                <a:spcPct val="0"/>
              </a:spcBef>
              <a:spcAft>
                <a:spcPct val="0"/>
              </a:spcAft>
              <a:buClrTx/>
              <a:buSzTx/>
              <a:buFont typeface="Courier New" panose="02070309020205020404" pitchFamily="49" charset="0"/>
              <a:buChar char="o"/>
            </a:pPr>
            <a:r>
              <a:rPr lang="en-US" altLang="en-US" sz="1400" dirty="0">
                <a:latin typeface="Arial" panose="020B0604020202020204" pitchFamily="34" charset="0"/>
              </a:rPr>
              <a:t>aggregated behavior</a:t>
            </a:r>
            <a:endParaRPr lang="en-US" dirty="0"/>
          </a:p>
          <a:p>
            <a:pPr marL="457200" indent="-457200">
              <a:buAutoNum type="arabicPeriod"/>
            </a:pPr>
            <a:r>
              <a:rPr lang="en-US" dirty="0"/>
              <a:t>Poor Precision on Fraud:</a:t>
            </a:r>
          </a:p>
          <a:p>
            <a:pPr marL="685800" lvl="1">
              <a:buFont typeface="Arial" panose="020B0604020202020204" pitchFamily="34" charset="0"/>
              <a:buChar char="•"/>
            </a:pPr>
            <a:r>
              <a:rPr lang="en-US" dirty="0"/>
              <a:t>The model marks majority of the transactions as fraud even though only 1% of the entries are actually fraud, making it unreliable.</a:t>
            </a:r>
          </a:p>
          <a:p>
            <a:pPr marL="685800" lvl="1">
              <a:buFont typeface="Arial" panose="020B0604020202020204" pitchFamily="34" charset="0"/>
              <a:buChar char="•"/>
            </a:pPr>
            <a:r>
              <a:rPr lang="en-US" dirty="0"/>
              <a:t>In fraud detection, precision and recall is far more important than accuracy.</a:t>
            </a:r>
          </a:p>
          <a:p>
            <a:pPr marL="685800" lvl="1">
              <a:buFont typeface="Arial" panose="020B0604020202020204" pitchFamily="34" charset="0"/>
              <a:buChar char="•"/>
            </a:pPr>
            <a:endParaRPr lang="en-US" dirty="0"/>
          </a:p>
          <a:p>
            <a:pPr marL="457200" indent="-457200">
              <a:buAutoNum type="arabicPeriod"/>
            </a:pPr>
            <a:endParaRPr lang="en-US" dirty="0"/>
          </a:p>
        </p:txBody>
      </p:sp>
    </p:spTree>
    <p:extLst>
      <p:ext uri="{BB962C8B-B14F-4D97-AF65-F5344CB8AC3E}">
        <p14:creationId xmlns:p14="http://schemas.microsoft.com/office/powerpoint/2010/main" val="4058622510"/>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3086" name="Rectangle 3085">
            <a:extLst>
              <a:ext uri="{FF2B5EF4-FFF2-40B4-BE49-F238E27FC236}">
                <a16:creationId xmlns:a16="http://schemas.microsoft.com/office/drawing/2014/main" id="{B4AAD3FD-83A5-4B89-9F8F-01B8870865B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003">
            <a:schemeClr val="dk2"/>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78838CC0-9A8C-F437-FC41-5D08340DBA67}"/>
              </a:ext>
            </a:extLst>
          </p:cNvPr>
          <p:cNvSpPr>
            <a:spLocks noGrp="1"/>
          </p:cNvSpPr>
          <p:nvPr>
            <p:ph type="title"/>
          </p:nvPr>
        </p:nvSpPr>
        <p:spPr>
          <a:xfrm>
            <a:off x="648931" y="629266"/>
            <a:ext cx="4166510" cy="1622321"/>
          </a:xfrm>
        </p:spPr>
        <p:txBody>
          <a:bodyPr>
            <a:normAutofit/>
          </a:bodyPr>
          <a:lstStyle/>
          <a:p>
            <a:pPr>
              <a:lnSpc>
                <a:spcPct val="90000"/>
              </a:lnSpc>
            </a:pPr>
            <a:r>
              <a:rPr lang="en-US" sz="2600">
                <a:solidFill>
                  <a:srgbClr val="EBEBEB"/>
                </a:solidFill>
              </a:rPr>
              <a:t>Random Forest Algorithm </a:t>
            </a:r>
            <a:br>
              <a:rPr lang="en-US" sz="2600">
                <a:solidFill>
                  <a:srgbClr val="EBEBEB"/>
                </a:solidFill>
              </a:rPr>
            </a:br>
            <a:r>
              <a:rPr lang="en-US" sz="2600">
                <a:solidFill>
                  <a:srgbClr val="EBEBEB"/>
                </a:solidFill>
              </a:rPr>
              <a:t>(Final Choice for Model)</a:t>
            </a:r>
          </a:p>
        </p:txBody>
      </p:sp>
      <p:sp>
        <p:nvSpPr>
          <p:cNvPr id="3088" name="Freeform 31">
            <a:extLst>
              <a:ext uri="{FF2B5EF4-FFF2-40B4-BE49-F238E27FC236}">
                <a16:creationId xmlns:a16="http://schemas.microsoft.com/office/drawing/2014/main" id="{61752F1D-FC0F-4103-9584-630E643CCDA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994020" y="-1"/>
            <a:ext cx="559472" cy="3709642"/>
          </a:xfrm>
          <a:custGeom>
            <a:avLst/>
            <a:gdLst>
              <a:gd name="connsiteX0" fmla="*/ 0 w 559472"/>
              <a:gd name="connsiteY0" fmla="*/ 0 h 3709642"/>
              <a:gd name="connsiteX1" fmla="*/ 473952 w 559472"/>
              <a:gd name="connsiteY1" fmla="*/ 0 h 3709642"/>
              <a:gd name="connsiteX2" fmla="*/ 485840 w 559472"/>
              <a:gd name="connsiteY2" fmla="*/ 161194 h 3709642"/>
              <a:gd name="connsiteX3" fmla="*/ 523949 w 559472"/>
              <a:gd name="connsiteY3" fmla="*/ 3672197 h 3709642"/>
              <a:gd name="connsiteX4" fmla="*/ 454748 w 559472"/>
              <a:gd name="connsiteY4" fmla="*/ 3709642 h 3709642"/>
              <a:gd name="connsiteX5" fmla="*/ 448224 w 559472"/>
              <a:gd name="connsiteY5" fmla="*/ 3510471 h 3709642"/>
              <a:gd name="connsiteX6" fmla="*/ 443564 w 559472"/>
              <a:gd name="connsiteY6" fmla="*/ 3408563 h 3709642"/>
              <a:gd name="connsiteX7" fmla="*/ 438902 w 559472"/>
              <a:gd name="connsiteY7" fmla="*/ 3304407 h 3709642"/>
              <a:gd name="connsiteX8" fmla="*/ 433941 w 559472"/>
              <a:gd name="connsiteY8" fmla="*/ 3198777 h 3709642"/>
              <a:gd name="connsiteX9" fmla="*/ 427584 w 559472"/>
              <a:gd name="connsiteY9" fmla="*/ 3092510 h 3709642"/>
              <a:gd name="connsiteX10" fmla="*/ 420988 w 559472"/>
              <a:gd name="connsiteY10" fmla="*/ 2984390 h 3709642"/>
              <a:gd name="connsiteX11" fmla="*/ 414330 w 559472"/>
              <a:gd name="connsiteY11" fmla="*/ 2874401 h 3709642"/>
              <a:gd name="connsiteX12" fmla="*/ 406840 w 559472"/>
              <a:gd name="connsiteY12" fmla="*/ 2762980 h 3709642"/>
              <a:gd name="connsiteX13" fmla="*/ 397745 w 559472"/>
              <a:gd name="connsiteY13" fmla="*/ 2650566 h 3709642"/>
              <a:gd name="connsiteX14" fmla="*/ 389154 w 559472"/>
              <a:gd name="connsiteY14" fmla="*/ 2536612 h 3709642"/>
              <a:gd name="connsiteX15" fmla="*/ 379225 w 559472"/>
              <a:gd name="connsiteY15" fmla="*/ 2421642 h 3709642"/>
              <a:gd name="connsiteX16" fmla="*/ 368316 w 559472"/>
              <a:gd name="connsiteY16" fmla="*/ 2305627 h 3709642"/>
              <a:gd name="connsiteX17" fmla="*/ 357466 w 559472"/>
              <a:gd name="connsiteY17" fmla="*/ 2189233 h 3709642"/>
              <a:gd name="connsiteX18" fmla="*/ 344982 w 559472"/>
              <a:gd name="connsiteY18" fmla="*/ 2071473 h 3709642"/>
              <a:gd name="connsiteX19" fmla="*/ 332466 w 559472"/>
              <a:gd name="connsiteY19" fmla="*/ 1952216 h 3709642"/>
              <a:gd name="connsiteX20" fmla="*/ 319121 w 559472"/>
              <a:gd name="connsiteY20" fmla="*/ 1833776 h 3709642"/>
              <a:gd name="connsiteX21" fmla="*/ 304408 w 559472"/>
              <a:gd name="connsiteY21" fmla="*/ 1713948 h 3709642"/>
              <a:gd name="connsiteX22" fmla="*/ 288685 w 559472"/>
              <a:gd name="connsiteY22" fmla="*/ 1592703 h 3709642"/>
              <a:gd name="connsiteX23" fmla="*/ 273050 w 559472"/>
              <a:gd name="connsiteY23" fmla="*/ 1471451 h 3709642"/>
              <a:gd name="connsiteX24" fmla="*/ 255813 w 559472"/>
              <a:gd name="connsiteY24" fmla="*/ 1350328 h 3709642"/>
              <a:gd name="connsiteX25" fmla="*/ 237060 w 559472"/>
              <a:gd name="connsiteY25" fmla="*/ 1227080 h 3709642"/>
              <a:gd name="connsiteX26" fmla="*/ 218488 w 559472"/>
              <a:gd name="connsiteY26" fmla="*/ 1106065 h 3709642"/>
              <a:gd name="connsiteX27" fmla="*/ 198221 w 559472"/>
              <a:gd name="connsiteY27" fmla="*/ 982940 h 3709642"/>
              <a:gd name="connsiteX28" fmla="*/ 177152 w 559472"/>
              <a:gd name="connsiteY28" fmla="*/ 858755 h 3709642"/>
              <a:gd name="connsiteX29" fmla="*/ 155551 w 559472"/>
              <a:gd name="connsiteY29" fmla="*/ 736861 h 3709642"/>
              <a:gd name="connsiteX30" fmla="*/ 131782 w 559472"/>
              <a:gd name="connsiteY30" fmla="*/ 613645 h 3709642"/>
              <a:gd name="connsiteX31" fmla="*/ 107123 w 559472"/>
              <a:gd name="connsiteY31" fmla="*/ 490500 h 3709642"/>
              <a:gd name="connsiteX32" fmla="*/ 82552 w 559472"/>
              <a:gd name="connsiteY32" fmla="*/ 367348 h 3709642"/>
              <a:gd name="connsiteX33" fmla="*/ 55608 w 559472"/>
              <a:gd name="connsiteY33" fmla="*/ 244762 h 3709642"/>
              <a:gd name="connsiteX34" fmla="*/ 28130 w 559472"/>
              <a:gd name="connsiteY34" fmla="*/ 122220 h 3709642"/>
              <a:gd name="connsiteX35" fmla="*/ 0 w 559472"/>
              <a:gd name="connsiteY35" fmla="*/ 0 h 370964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Lst>
            <a:rect l="l" t="t" r="r" b="b"/>
            <a:pathLst>
              <a:path w="559472" h="3709642">
                <a:moveTo>
                  <a:pt x="0" y="0"/>
                </a:moveTo>
                <a:lnTo>
                  <a:pt x="473952" y="0"/>
                </a:lnTo>
                <a:lnTo>
                  <a:pt x="485840" y="161194"/>
                </a:lnTo>
                <a:cubicBezTo>
                  <a:pt x="552063" y="1147770"/>
                  <a:pt x="592441" y="3086737"/>
                  <a:pt x="523949" y="3672197"/>
                </a:cubicBezTo>
                <a:cubicBezTo>
                  <a:pt x="500842" y="3684557"/>
                  <a:pt x="477855" y="3697282"/>
                  <a:pt x="454748" y="3709642"/>
                </a:cubicBezTo>
                <a:lnTo>
                  <a:pt x="448224" y="3510471"/>
                </a:lnTo>
                <a:lnTo>
                  <a:pt x="443564" y="3408563"/>
                </a:lnTo>
                <a:lnTo>
                  <a:pt x="438902" y="3304407"/>
                </a:lnTo>
                <a:lnTo>
                  <a:pt x="433941" y="3198777"/>
                </a:lnTo>
                <a:lnTo>
                  <a:pt x="427584" y="3092510"/>
                </a:lnTo>
                <a:lnTo>
                  <a:pt x="420988" y="2984390"/>
                </a:lnTo>
                <a:lnTo>
                  <a:pt x="414330" y="2874401"/>
                </a:lnTo>
                <a:lnTo>
                  <a:pt x="406840" y="2762980"/>
                </a:lnTo>
                <a:lnTo>
                  <a:pt x="397745" y="2650566"/>
                </a:lnTo>
                <a:lnTo>
                  <a:pt x="389154" y="2536612"/>
                </a:lnTo>
                <a:lnTo>
                  <a:pt x="379225" y="2421642"/>
                </a:lnTo>
                <a:lnTo>
                  <a:pt x="368316" y="2305627"/>
                </a:lnTo>
                <a:lnTo>
                  <a:pt x="357466" y="2189233"/>
                </a:lnTo>
                <a:lnTo>
                  <a:pt x="344982" y="2071473"/>
                </a:lnTo>
                <a:lnTo>
                  <a:pt x="332466" y="1952216"/>
                </a:lnTo>
                <a:lnTo>
                  <a:pt x="319121" y="1833776"/>
                </a:lnTo>
                <a:lnTo>
                  <a:pt x="304408" y="1713948"/>
                </a:lnTo>
                <a:lnTo>
                  <a:pt x="288685" y="1592703"/>
                </a:lnTo>
                <a:lnTo>
                  <a:pt x="273050" y="1471451"/>
                </a:lnTo>
                <a:lnTo>
                  <a:pt x="255813" y="1350328"/>
                </a:lnTo>
                <a:lnTo>
                  <a:pt x="237060" y="1227080"/>
                </a:lnTo>
                <a:lnTo>
                  <a:pt x="218488" y="1106065"/>
                </a:lnTo>
                <a:lnTo>
                  <a:pt x="198221" y="982940"/>
                </a:lnTo>
                <a:lnTo>
                  <a:pt x="177152" y="858755"/>
                </a:lnTo>
                <a:lnTo>
                  <a:pt x="155551" y="736861"/>
                </a:lnTo>
                <a:lnTo>
                  <a:pt x="131782" y="613645"/>
                </a:lnTo>
                <a:lnTo>
                  <a:pt x="107123" y="490500"/>
                </a:lnTo>
                <a:lnTo>
                  <a:pt x="82552" y="367348"/>
                </a:lnTo>
                <a:lnTo>
                  <a:pt x="55608" y="244762"/>
                </a:lnTo>
                <a:lnTo>
                  <a:pt x="28130" y="122220"/>
                </a:lnTo>
                <a:lnTo>
                  <a:pt x="0" y="0"/>
                </a:lnTo>
                <a:close/>
              </a:path>
            </a:pathLst>
          </a:custGeom>
          <a:solidFill>
            <a:schemeClr val="bg1">
              <a:alpha val="20000"/>
            </a:schemeClr>
          </a:solidFill>
          <a:ln>
            <a:noFill/>
          </a:ln>
        </p:spPr>
        <p:txBody>
          <a:bodyPr rtlCol="0" anchor="ctr"/>
          <a:lstStyle/>
          <a:p>
            <a:pPr algn="ctr"/>
            <a:endParaRPr lang="en-US"/>
          </a:p>
        </p:txBody>
      </p:sp>
      <p:sp useBgFill="1">
        <p:nvSpPr>
          <p:cNvPr id="3090" name="Freeform: Shape 3089">
            <a:extLst>
              <a:ext uri="{FF2B5EF4-FFF2-40B4-BE49-F238E27FC236}">
                <a16:creationId xmlns:a16="http://schemas.microsoft.com/office/drawing/2014/main" id="{70151CB7-E7DE-4917-B831-01DF9CE0130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gray">
          <a:xfrm rot="16200000">
            <a:off x="5270819" y="-63600"/>
            <a:ext cx="6858001" cy="6985200"/>
          </a:xfrm>
          <a:custGeom>
            <a:avLst/>
            <a:gdLst>
              <a:gd name="connsiteX0" fmla="*/ 6858001 w 6858001"/>
              <a:gd name="connsiteY0" fmla="*/ 1177 h 6985200"/>
              <a:gd name="connsiteX1" fmla="*/ 6858001 w 6858001"/>
              <a:gd name="connsiteY1" fmla="*/ 1344715 h 6985200"/>
              <a:gd name="connsiteX2" fmla="*/ 6858000 w 6858001"/>
              <a:gd name="connsiteY2" fmla="*/ 1344715 h 6985200"/>
              <a:gd name="connsiteX3" fmla="*/ 6858000 w 6858001"/>
              <a:gd name="connsiteY3" fmla="*/ 6985200 h 6985200"/>
              <a:gd name="connsiteX4" fmla="*/ 0 w 6858001"/>
              <a:gd name="connsiteY4" fmla="*/ 6985199 h 6985200"/>
              <a:gd name="connsiteX5" fmla="*/ 0 w 6858001"/>
              <a:gd name="connsiteY5" fmla="*/ 886772 h 6985200"/>
              <a:gd name="connsiteX6" fmla="*/ 1 w 6858001"/>
              <a:gd name="connsiteY6" fmla="*/ 886772 h 6985200"/>
              <a:gd name="connsiteX7" fmla="*/ 1 w 6858001"/>
              <a:gd name="connsiteY7" fmla="*/ 0 h 6985200"/>
              <a:gd name="connsiteX8" fmla="*/ 40463 w 6858001"/>
              <a:gd name="connsiteY8" fmla="*/ 5883 h 6985200"/>
              <a:gd name="connsiteX9" fmla="*/ 159107 w 6858001"/>
              <a:gd name="connsiteY9" fmla="*/ 23196 h 6985200"/>
              <a:gd name="connsiteX10" fmla="*/ 245518 w 6858001"/>
              <a:gd name="connsiteY10" fmla="*/ 35299 h 6985200"/>
              <a:gd name="connsiteX11" fmla="*/ 348388 w 6858001"/>
              <a:gd name="connsiteY11" fmla="*/ 48073 h 6985200"/>
              <a:gd name="connsiteX12" fmla="*/ 470460 w 6858001"/>
              <a:gd name="connsiteY12" fmla="*/ 63369 h 6985200"/>
              <a:gd name="connsiteX13" fmla="*/ 605563 w 6858001"/>
              <a:gd name="connsiteY13" fmla="*/ 79506 h 6985200"/>
              <a:gd name="connsiteX14" fmla="*/ 757810 w 6858001"/>
              <a:gd name="connsiteY14" fmla="*/ 96483 h 6985200"/>
              <a:gd name="connsiteX15" fmla="*/ 923774 w 6858001"/>
              <a:gd name="connsiteY15" fmla="*/ 114469 h 6985200"/>
              <a:gd name="connsiteX16" fmla="*/ 1104139 w 6858001"/>
              <a:gd name="connsiteY16" fmla="*/ 132454 h 6985200"/>
              <a:gd name="connsiteX17" fmla="*/ 1296163 w 6858001"/>
              <a:gd name="connsiteY17" fmla="*/ 150776 h 6985200"/>
              <a:gd name="connsiteX18" fmla="*/ 1503275 w 6858001"/>
              <a:gd name="connsiteY18" fmla="*/ 167753 h 6985200"/>
              <a:gd name="connsiteX19" fmla="*/ 1719988 w 6858001"/>
              <a:gd name="connsiteY19" fmla="*/ 184058 h 6985200"/>
              <a:gd name="connsiteX20" fmla="*/ 1949045 w 6858001"/>
              <a:gd name="connsiteY20" fmla="*/ 198849 h 6985200"/>
              <a:gd name="connsiteX21" fmla="*/ 2187703 w 6858001"/>
              <a:gd name="connsiteY21" fmla="*/ 212969 h 6985200"/>
              <a:gd name="connsiteX22" fmla="*/ 2436649 w 6858001"/>
              <a:gd name="connsiteY22" fmla="*/ 226248 h 6985200"/>
              <a:gd name="connsiteX23" fmla="*/ 2564208 w 6858001"/>
              <a:gd name="connsiteY23" fmla="*/ 230955 h 6985200"/>
              <a:gd name="connsiteX24" fmla="*/ 2694509 w 6858001"/>
              <a:gd name="connsiteY24" fmla="*/ 236165 h 6985200"/>
              <a:gd name="connsiteX25" fmla="*/ 2826869 w 6858001"/>
              <a:gd name="connsiteY25" fmla="*/ 241040 h 6985200"/>
              <a:gd name="connsiteX26" fmla="*/ 2959914 w 6858001"/>
              <a:gd name="connsiteY26" fmla="*/ 244234 h 6985200"/>
              <a:gd name="connsiteX27" fmla="*/ 3095702 w 6858001"/>
              <a:gd name="connsiteY27" fmla="*/ 247091 h 6985200"/>
              <a:gd name="connsiteX28" fmla="*/ 3232862 w 6858001"/>
              <a:gd name="connsiteY28" fmla="*/ 250117 h 6985200"/>
              <a:gd name="connsiteX29" fmla="*/ 3372766 w 6858001"/>
              <a:gd name="connsiteY29" fmla="*/ 252134 h 6985200"/>
              <a:gd name="connsiteX30" fmla="*/ 3514040 w 6858001"/>
              <a:gd name="connsiteY30" fmla="*/ 252134 h 6985200"/>
              <a:gd name="connsiteX31" fmla="*/ 3656686 w 6858001"/>
              <a:gd name="connsiteY31" fmla="*/ 253142 h 6985200"/>
              <a:gd name="connsiteX32" fmla="*/ 3800705 w 6858001"/>
              <a:gd name="connsiteY32" fmla="*/ 252134 h 6985200"/>
              <a:gd name="connsiteX33" fmla="*/ 3946780 w 6858001"/>
              <a:gd name="connsiteY33" fmla="*/ 250117 h 6985200"/>
              <a:gd name="connsiteX34" fmla="*/ 4092856 w 6858001"/>
              <a:gd name="connsiteY34" fmla="*/ 248268 h 6985200"/>
              <a:gd name="connsiteX35" fmla="*/ 4240988 w 6858001"/>
              <a:gd name="connsiteY35" fmla="*/ 244234 h 6985200"/>
              <a:gd name="connsiteX36" fmla="*/ 4390492 w 6858001"/>
              <a:gd name="connsiteY36" fmla="*/ 240032 h 6985200"/>
              <a:gd name="connsiteX37" fmla="*/ 4539997 w 6858001"/>
              <a:gd name="connsiteY37" fmla="*/ 235157 h 6985200"/>
              <a:gd name="connsiteX38" fmla="*/ 4690873 w 6858001"/>
              <a:gd name="connsiteY38" fmla="*/ 228266 h 6985200"/>
              <a:gd name="connsiteX39" fmla="*/ 4843120 w 6858001"/>
              <a:gd name="connsiteY39" fmla="*/ 220029 h 6985200"/>
              <a:gd name="connsiteX40" fmla="*/ 4996054 w 6858001"/>
              <a:gd name="connsiteY40" fmla="*/ 212129 h 6985200"/>
              <a:gd name="connsiteX41" fmla="*/ 5148987 w 6858001"/>
              <a:gd name="connsiteY41" fmla="*/ 202044 h 6985200"/>
              <a:gd name="connsiteX42" fmla="*/ 5303978 w 6858001"/>
              <a:gd name="connsiteY42" fmla="*/ 189941 h 6985200"/>
              <a:gd name="connsiteX43" fmla="*/ 5456911 w 6858001"/>
              <a:gd name="connsiteY43" fmla="*/ 177839 h 6985200"/>
              <a:gd name="connsiteX44" fmla="*/ 5612588 w 6858001"/>
              <a:gd name="connsiteY44" fmla="*/ 163887 h 6985200"/>
              <a:gd name="connsiteX45" fmla="*/ 5768950 w 6858001"/>
              <a:gd name="connsiteY45" fmla="*/ 148591 h 6985200"/>
              <a:gd name="connsiteX46" fmla="*/ 5923255 w 6858001"/>
              <a:gd name="connsiteY46" fmla="*/ 132455 h 6985200"/>
              <a:gd name="connsiteX47" fmla="*/ 6079618 w 6858001"/>
              <a:gd name="connsiteY47" fmla="*/ 113629 h 6985200"/>
              <a:gd name="connsiteX48" fmla="*/ 6235294 w 6858001"/>
              <a:gd name="connsiteY48" fmla="*/ 93458 h 6985200"/>
              <a:gd name="connsiteX49" fmla="*/ 6391657 w 6858001"/>
              <a:gd name="connsiteY49" fmla="*/ 73455 h 6985200"/>
              <a:gd name="connsiteX50" fmla="*/ 6547333 w 6858001"/>
              <a:gd name="connsiteY50" fmla="*/ 50091 h 6985200"/>
              <a:gd name="connsiteX51" fmla="*/ 6702324 w 6858001"/>
              <a:gd name="connsiteY51" fmla="*/ 26222 h 69852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Lst>
            <a:rect l="l" t="t" r="r" b="b"/>
            <a:pathLst>
              <a:path w="6858001" h="6985200">
                <a:moveTo>
                  <a:pt x="6858001" y="1177"/>
                </a:moveTo>
                <a:lnTo>
                  <a:pt x="6858001" y="1344715"/>
                </a:lnTo>
                <a:lnTo>
                  <a:pt x="6858000" y="1344715"/>
                </a:lnTo>
                <a:lnTo>
                  <a:pt x="6858000" y="6985200"/>
                </a:lnTo>
                <a:lnTo>
                  <a:pt x="0" y="6985199"/>
                </a:lnTo>
                <a:lnTo>
                  <a:pt x="0" y="886772"/>
                </a:lnTo>
                <a:lnTo>
                  <a:pt x="1" y="886772"/>
                </a:lnTo>
                <a:lnTo>
                  <a:pt x="1" y="0"/>
                </a:lnTo>
                <a:lnTo>
                  <a:pt x="40463" y="5883"/>
                </a:lnTo>
                <a:lnTo>
                  <a:pt x="159107" y="23196"/>
                </a:lnTo>
                <a:lnTo>
                  <a:pt x="245518" y="35299"/>
                </a:lnTo>
                <a:lnTo>
                  <a:pt x="348388" y="48073"/>
                </a:lnTo>
                <a:lnTo>
                  <a:pt x="470460" y="63369"/>
                </a:lnTo>
                <a:lnTo>
                  <a:pt x="605563" y="79506"/>
                </a:lnTo>
                <a:lnTo>
                  <a:pt x="757810" y="96483"/>
                </a:lnTo>
                <a:lnTo>
                  <a:pt x="923774" y="114469"/>
                </a:lnTo>
                <a:lnTo>
                  <a:pt x="1104139" y="132454"/>
                </a:lnTo>
                <a:lnTo>
                  <a:pt x="1296163" y="150776"/>
                </a:lnTo>
                <a:lnTo>
                  <a:pt x="1503275" y="167753"/>
                </a:lnTo>
                <a:lnTo>
                  <a:pt x="1719988" y="184058"/>
                </a:lnTo>
                <a:lnTo>
                  <a:pt x="1949045" y="198849"/>
                </a:lnTo>
                <a:lnTo>
                  <a:pt x="2187703" y="212969"/>
                </a:lnTo>
                <a:lnTo>
                  <a:pt x="2436649" y="226248"/>
                </a:lnTo>
                <a:lnTo>
                  <a:pt x="2564208" y="230955"/>
                </a:lnTo>
                <a:lnTo>
                  <a:pt x="2694509" y="236165"/>
                </a:lnTo>
                <a:lnTo>
                  <a:pt x="2826869" y="241040"/>
                </a:lnTo>
                <a:lnTo>
                  <a:pt x="2959914" y="244234"/>
                </a:lnTo>
                <a:lnTo>
                  <a:pt x="3095702" y="247091"/>
                </a:lnTo>
                <a:lnTo>
                  <a:pt x="3232862" y="250117"/>
                </a:lnTo>
                <a:lnTo>
                  <a:pt x="3372766" y="252134"/>
                </a:lnTo>
                <a:lnTo>
                  <a:pt x="3514040" y="252134"/>
                </a:lnTo>
                <a:lnTo>
                  <a:pt x="3656686" y="253142"/>
                </a:lnTo>
                <a:lnTo>
                  <a:pt x="3800705" y="252134"/>
                </a:lnTo>
                <a:lnTo>
                  <a:pt x="3946780" y="250117"/>
                </a:lnTo>
                <a:lnTo>
                  <a:pt x="4092856" y="248268"/>
                </a:lnTo>
                <a:lnTo>
                  <a:pt x="4240988" y="244234"/>
                </a:lnTo>
                <a:lnTo>
                  <a:pt x="4390492" y="240032"/>
                </a:lnTo>
                <a:lnTo>
                  <a:pt x="4539997" y="235157"/>
                </a:lnTo>
                <a:lnTo>
                  <a:pt x="4690873" y="228266"/>
                </a:lnTo>
                <a:lnTo>
                  <a:pt x="4843120" y="220029"/>
                </a:lnTo>
                <a:lnTo>
                  <a:pt x="4996054" y="212129"/>
                </a:lnTo>
                <a:lnTo>
                  <a:pt x="5148987" y="202044"/>
                </a:lnTo>
                <a:lnTo>
                  <a:pt x="5303978" y="189941"/>
                </a:lnTo>
                <a:lnTo>
                  <a:pt x="5456911" y="177839"/>
                </a:lnTo>
                <a:lnTo>
                  <a:pt x="5612588" y="163887"/>
                </a:lnTo>
                <a:lnTo>
                  <a:pt x="5768950" y="148591"/>
                </a:lnTo>
                <a:lnTo>
                  <a:pt x="5923255" y="132455"/>
                </a:lnTo>
                <a:lnTo>
                  <a:pt x="6079618" y="113629"/>
                </a:lnTo>
                <a:lnTo>
                  <a:pt x="6235294" y="93458"/>
                </a:lnTo>
                <a:lnTo>
                  <a:pt x="6391657" y="73455"/>
                </a:lnTo>
                <a:lnTo>
                  <a:pt x="6547333" y="50091"/>
                </a:lnTo>
                <a:lnTo>
                  <a:pt x="6702324" y="26222"/>
                </a:lnTo>
                <a:close/>
              </a:path>
            </a:pathLst>
          </a:custGeom>
          <a:ln>
            <a:noFill/>
          </a:ln>
        </p:spPr>
        <p:txBody>
          <a:bodyPr/>
          <a:lstStyle/>
          <a:p>
            <a:endParaRPr lang="en-US"/>
          </a:p>
        </p:txBody>
      </p:sp>
      <p:pic>
        <p:nvPicPr>
          <p:cNvPr id="3081" name="Picture 9" descr="Random Forest. Random Forest is an ensemble machine… | by Deniz Gunay |  Medium">
            <a:extLst>
              <a:ext uri="{FF2B5EF4-FFF2-40B4-BE49-F238E27FC236}">
                <a16:creationId xmlns:a16="http://schemas.microsoft.com/office/drawing/2014/main" id="{9DF3B4AD-BA22-1A1D-3F45-5BDBA7EF5EE9}"/>
              </a:ext>
            </a:extLst>
          </p:cNvPr>
          <p:cNvPicPr>
            <a:picLocks noChangeAspect="1" noChangeArrowheads="1"/>
          </p:cNvPicPr>
          <p:nvPr/>
        </p:nvPicPr>
        <p:blipFill>
          <a:blip r:embed="rId2">
            <a:extLst>
              <a:ext uri="{28A0092B-C50C-407E-A947-70E740481C1C}">
                <a14:useLocalDpi xmlns:a14="http://schemas.microsoft.com/office/drawing/2010/main" val="0"/>
              </a:ext>
            </a:extLst>
          </a:blip>
          <a:stretch>
            <a:fillRect/>
          </a:stretch>
        </p:blipFill>
        <p:spPr bwMode="auto">
          <a:xfrm>
            <a:off x="6093992" y="1494288"/>
            <a:ext cx="5449889" cy="3869420"/>
          </a:xfrm>
          <a:prstGeom prst="rect">
            <a:avLst/>
          </a:prstGeom>
          <a:noFill/>
          <a:effectLst/>
          <a:extLst>
            <a:ext uri="{909E8E84-426E-40DD-AFC4-6F175D3DCCD1}">
              <a14:hiddenFill xmlns:a14="http://schemas.microsoft.com/office/drawing/2010/main">
                <a:solidFill>
                  <a:srgbClr val="FFFFFF"/>
                </a:solidFill>
              </a14:hiddenFill>
            </a:ext>
          </a:extLst>
        </p:spPr>
      </p:pic>
      <p:sp>
        <p:nvSpPr>
          <p:cNvPr id="3092" name="Rectangle 3091">
            <a:extLst>
              <a:ext uri="{FF2B5EF4-FFF2-40B4-BE49-F238E27FC236}">
                <a16:creationId xmlns:a16="http://schemas.microsoft.com/office/drawing/2014/main" id="{A92A1116-1C84-41DF-B803-1F7B0883EC8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0442448"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5" name="Content Placeholder 4">
            <a:extLst>
              <a:ext uri="{FF2B5EF4-FFF2-40B4-BE49-F238E27FC236}">
                <a16:creationId xmlns:a16="http://schemas.microsoft.com/office/drawing/2014/main" id="{2E2F4AEC-05AA-FDD8-5C2D-90EE949E4748}"/>
              </a:ext>
            </a:extLst>
          </p:cNvPr>
          <p:cNvSpPr>
            <a:spLocks noGrp="1"/>
          </p:cNvSpPr>
          <p:nvPr>
            <p:ph idx="1"/>
          </p:nvPr>
        </p:nvSpPr>
        <p:spPr>
          <a:xfrm>
            <a:off x="648931" y="2438400"/>
            <a:ext cx="4166509" cy="3785419"/>
          </a:xfrm>
        </p:spPr>
        <p:txBody>
          <a:bodyPr>
            <a:normAutofit/>
          </a:bodyPr>
          <a:lstStyle/>
          <a:p>
            <a:pPr>
              <a:lnSpc>
                <a:spcPct val="90000"/>
              </a:lnSpc>
            </a:pPr>
            <a:r>
              <a:rPr lang="en-US">
                <a:solidFill>
                  <a:srgbClr val="EBEBEB"/>
                </a:solidFill>
              </a:rPr>
              <a:t>What is Random Forest</a:t>
            </a:r>
          </a:p>
          <a:p>
            <a:pPr lvl="1">
              <a:lnSpc>
                <a:spcPct val="90000"/>
              </a:lnSpc>
              <a:buFont typeface="Arial" panose="020B0604020202020204" pitchFamily="34" charset="0"/>
              <a:buChar char="•"/>
            </a:pPr>
            <a:r>
              <a:rPr lang="en-US">
                <a:solidFill>
                  <a:srgbClr val="EBEBEB"/>
                </a:solidFill>
              </a:rPr>
              <a:t>A supervised machine learning algorithm that builds many decision trees and combines their outputs.</a:t>
            </a:r>
          </a:p>
          <a:p>
            <a:pPr lvl="1">
              <a:lnSpc>
                <a:spcPct val="90000"/>
              </a:lnSpc>
              <a:buFont typeface="Arial" panose="020B0604020202020204" pitchFamily="34" charset="0"/>
              <a:buChar char="•"/>
            </a:pPr>
            <a:r>
              <a:rPr lang="en-US">
                <a:solidFill>
                  <a:srgbClr val="EBEBEB"/>
                </a:solidFill>
              </a:rPr>
              <a:t>Each tree “votes,” and the final prediction is decided by majority vote.</a:t>
            </a:r>
          </a:p>
          <a:p>
            <a:pPr lvl="1">
              <a:lnSpc>
                <a:spcPct val="90000"/>
              </a:lnSpc>
              <a:buFont typeface="Arial" panose="020B0604020202020204" pitchFamily="34" charset="0"/>
              <a:buChar char="•"/>
            </a:pPr>
            <a:r>
              <a:rPr lang="en-US">
                <a:solidFill>
                  <a:srgbClr val="EBEBEB"/>
                </a:solidFill>
              </a:rPr>
              <a:t>Works extremely well for complex, non-linear patterns — which is perfect for fraud detection.</a:t>
            </a:r>
          </a:p>
          <a:p>
            <a:pPr marL="457200" lvl="1" indent="0">
              <a:lnSpc>
                <a:spcPct val="90000"/>
              </a:lnSpc>
              <a:buNone/>
            </a:pPr>
            <a:endParaRPr lang="en-US">
              <a:solidFill>
                <a:srgbClr val="EBEBEB"/>
              </a:solidFill>
            </a:endParaRPr>
          </a:p>
        </p:txBody>
      </p:sp>
      <p:sp>
        <p:nvSpPr>
          <p:cNvPr id="6" name="AutoShape 3" descr="Random Forest Algorithm in Machine Learning - GeeksforGeeks">
            <a:extLst>
              <a:ext uri="{FF2B5EF4-FFF2-40B4-BE49-F238E27FC236}">
                <a16:creationId xmlns:a16="http://schemas.microsoft.com/office/drawing/2014/main" id="{89FE337C-4DE0-4ED6-8CAA-AD0EEDBDA5B5}"/>
              </a:ext>
            </a:extLst>
          </p:cNvPr>
          <p:cNvSpPr>
            <a:spLocks noChangeAspect="1" noChangeArrowheads="1"/>
          </p:cNvSpPr>
          <p:nvPr/>
        </p:nvSpPr>
        <p:spPr bwMode="auto">
          <a:xfrm>
            <a:off x="5943600" y="32766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9" name="AutoShape 7" descr="Random Forest Algorithm in Machine Learning - GeeksforGeeks">
            <a:extLst>
              <a:ext uri="{FF2B5EF4-FFF2-40B4-BE49-F238E27FC236}">
                <a16:creationId xmlns:a16="http://schemas.microsoft.com/office/drawing/2014/main" id="{E11E0AEC-96A2-D1C4-8532-F8A66289F756}"/>
              </a:ext>
            </a:extLst>
          </p:cNvPr>
          <p:cNvSpPr>
            <a:spLocks noChangeAspect="1" noChangeArrowheads="1"/>
          </p:cNvSpPr>
          <p:nvPr/>
        </p:nvSpPr>
        <p:spPr bwMode="auto">
          <a:xfrm>
            <a:off x="6096000" y="3429000"/>
            <a:ext cx="2497494" cy="2497494"/>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Tree>
    <p:extLst>
      <p:ext uri="{BB962C8B-B14F-4D97-AF65-F5344CB8AC3E}">
        <p14:creationId xmlns:p14="http://schemas.microsoft.com/office/powerpoint/2010/main" val="1033425438"/>
      </p:ext>
    </p:extLst>
  </p:cSld>
  <p:clrMapOvr>
    <a:overrideClrMapping bg1="lt1" tx1="dk1" bg2="lt2" tx2="dk2" accent1="accent1" accent2="accent2" accent3="accent3" accent4="accent4" accent5="accent5" accent6="accent6" hlink="hlink" folHlink="folHlink"/>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2B76429-2F18-4955-7336-0C3680ED41F0}"/>
              </a:ext>
            </a:extLst>
          </p:cNvPr>
          <p:cNvSpPr>
            <a:spLocks noGrp="1"/>
          </p:cNvSpPr>
          <p:nvPr>
            <p:ph type="title"/>
          </p:nvPr>
        </p:nvSpPr>
        <p:spPr/>
        <p:txBody>
          <a:bodyPr/>
          <a:lstStyle/>
          <a:p>
            <a:r>
              <a:rPr lang="en-US" dirty="0"/>
              <a:t>How Random Forest Works</a:t>
            </a:r>
          </a:p>
        </p:txBody>
      </p:sp>
      <p:sp>
        <p:nvSpPr>
          <p:cNvPr id="3" name="Content Placeholder 2">
            <a:extLst>
              <a:ext uri="{FF2B5EF4-FFF2-40B4-BE49-F238E27FC236}">
                <a16:creationId xmlns:a16="http://schemas.microsoft.com/office/drawing/2014/main" id="{C1590F80-2021-7A80-5E84-221E9B6D2EEE}"/>
              </a:ext>
            </a:extLst>
          </p:cNvPr>
          <p:cNvSpPr>
            <a:spLocks noGrp="1"/>
          </p:cNvSpPr>
          <p:nvPr>
            <p:ph idx="1"/>
          </p:nvPr>
        </p:nvSpPr>
        <p:spPr/>
        <p:txBody>
          <a:bodyPr>
            <a:normAutofit/>
          </a:bodyPr>
          <a:lstStyle/>
          <a:p>
            <a:pPr marL="457200" indent="-457200">
              <a:buFont typeface="+mj-lt"/>
              <a:buAutoNum type="arabicPeriod"/>
            </a:pPr>
            <a:r>
              <a:rPr lang="en-US" dirty="0"/>
              <a:t>Creates many decision trees using different random subsets of:</a:t>
            </a:r>
          </a:p>
          <a:p>
            <a:pPr marL="857250" lvl="1" indent="-400050">
              <a:buFont typeface="+mj-lt"/>
              <a:buAutoNum type="romanUcPeriod"/>
            </a:pPr>
            <a:r>
              <a:rPr lang="en-US" dirty="0"/>
              <a:t>the data (bootstrapping)</a:t>
            </a:r>
          </a:p>
          <a:p>
            <a:pPr marL="857250" lvl="1" indent="-400050">
              <a:buFont typeface="+mj-lt"/>
              <a:buAutoNum type="romanUcPeriod"/>
            </a:pPr>
            <a:r>
              <a:rPr lang="en-US" dirty="0"/>
              <a:t>the features (random feature selection)</a:t>
            </a:r>
          </a:p>
          <a:p>
            <a:pPr marL="457200" indent="-457200">
              <a:buFont typeface="+mj-lt"/>
              <a:buAutoNum type="arabicPeriod"/>
            </a:pPr>
            <a:r>
              <a:rPr lang="en-US" dirty="0"/>
              <a:t>Each tree learns a slightly different pattern.</a:t>
            </a:r>
          </a:p>
          <a:p>
            <a:pPr marL="457200" indent="-457200">
              <a:buFont typeface="+mj-lt"/>
              <a:buAutoNum type="arabicPeriod"/>
            </a:pPr>
            <a:r>
              <a:rPr lang="en-US" dirty="0"/>
              <a:t>During prediction:</a:t>
            </a:r>
          </a:p>
          <a:p>
            <a:pPr marL="857250" lvl="1" indent="-457200">
              <a:buFont typeface="+mj-lt"/>
              <a:buAutoNum type="romanUcPeriod"/>
            </a:pPr>
            <a:r>
              <a:rPr lang="en-US" dirty="0"/>
              <a:t>Each tree gives a classification (fraud/not fraud)</a:t>
            </a:r>
          </a:p>
          <a:p>
            <a:pPr marL="857250" lvl="1" indent="-457200">
              <a:buFont typeface="+mj-lt"/>
              <a:buAutoNum type="romanUcPeriod"/>
            </a:pPr>
            <a:r>
              <a:rPr lang="en-US" dirty="0"/>
              <a:t>Random Forest takes the majority vote</a:t>
            </a:r>
          </a:p>
        </p:txBody>
      </p:sp>
    </p:spTree>
    <p:extLst>
      <p:ext uri="{BB962C8B-B14F-4D97-AF65-F5344CB8AC3E}">
        <p14:creationId xmlns:p14="http://schemas.microsoft.com/office/powerpoint/2010/main" val="644520893"/>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7BE474F-688E-0320-DAF0-2D3053F4DA14}"/>
              </a:ext>
            </a:extLst>
          </p:cNvPr>
          <p:cNvSpPr>
            <a:spLocks noGrp="1"/>
          </p:cNvSpPr>
          <p:nvPr>
            <p:ph type="title"/>
          </p:nvPr>
        </p:nvSpPr>
        <p:spPr/>
        <p:txBody>
          <a:bodyPr/>
          <a:lstStyle/>
          <a:p>
            <a:r>
              <a:rPr lang="en-US" dirty="0"/>
              <a:t>Model Performance</a:t>
            </a:r>
          </a:p>
        </p:txBody>
      </p:sp>
      <p:pic>
        <p:nvPicPr>
          <p:cNvPr id="5" name="Content Placeholder 4">
            <a:extLst>
              <a:ext uri="{FF2B5EF4-FFF2-40B4-BE49-F238E27FC236}">
                <a16:creationId xmlns:a16="http://schemas.microsoft.com/office/drawing/2014/main" id="{9A0C1E55-48A2-563E-5032-476078A21541}"/>
              </a:ext>
            </a:extLst>
          </p:cNvPr>
          <p:cNvPicPr>
            <a:picLocks noGrp="1" noChangeAspect="1"/>
          </p:cNvPicPr>
          <p:nvPr>
            <p:ph idx="1"/>
          </p:nvPr>
        </p:nvPicPr>
        <p:blipFill>
          <a:blip r:embed="rId2"/>
          <a:stretch>
            <a:fillRect/>
          </a:stretch>
        </p:blipFill>
        <p:spPr>
          <a:xfrm>
            <a:off x="866045" y="1853248"/>
            <a:ext cx="7460699" cy="2779712"/>
          </a:xfrm>
          <a:prstGeom prst="rect">
            <a:avLst/>
          </a:prstGeom>
        </p:spPr>
      </p:pic>
      <p:pic>
        <p:nvPicPr>
          <p:cNvPr id="7" name="Picture 6">
            <a:extLst>
              <a:ext uri="{FF2B5EF4-FFF2-40B4-BE49-F238E27FC236}">
                <a16:creationId xmlns:a16="http://schemas.microsoft.com/office/drawing/2014/main" id="{5E8365FE-595A-D08A-03D9-E216794D261B}"/>
              </a:ext>
            </a:extLst>
          </p:cNvPr>
          <p:cNvPicPr>
            <a:picLocks noChangeAspect="1"/>
          </p:cNvPicPr>
          <p:nvPr/>
        </p:nvPicPr>
        <p:blipFill>
          <a:blip r:embed="rId3"/>
          <a:stretch>
            <a:fillRect/>
          </a:stretch>
        </p:blipFill>
        <p:spPr>
          <a:xfrm>
            <a:off x="866045" y="4871278"/>
            <a:ext cx="4696480" cy="1162212"/>
          </a:xfrm>
          <a:prstGeom prst="rect">
            <a:avLst/>
          </a:prstGeom>
        </p:spPr>
      </p:pic>
    </p:spTree>
    <p:extLst>
      <p:ext uri="{BB962C8B-B14F-4D97-AF65-F5344CB8AC3E}">
        <p14:creationId xmlns:p14="http://schemas.microsoft.com/office/powerpoint/2010/main" val="872484984"/>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1A8C0A3-61F7-C31F-0BE4-82323DF68F96}"/>
              </a:ext>
            </a:extLst>
          </p:cNvPr>
          <p:cNvSpPr>
            <a:spLocks noGrp="1"/>
          </p:cNvSpPr>
          <p:nvPr>
            <p:ph type="title"/>
          </p:nvPr>
        </p:nvSpPr>
        <p:spPr/>
        <p:txBody>
          <a:bodyPr/>
          <a:lstStyle/>
          <a:p>
            <a:r>
              <a:rPr lang="en-US" dirty="0"/>
              <a:t>Why Random Forest is a better Choice?</a:t>
            </a:r>
          </a:p>
        </p:txBody>
      </p:sp>
      <p:sp>
        <p:nvSpPr>
          <p:cNvPr id="3" name="Content Placeholder 2">
            <a:extLst>
              <a:ext uri="{FF2B5EF4-FFF2-40B4-BE49-F238E27FC236}">
                <a16:creationId xmlns:a16="http://schemas.microsoft.com/office/drawing/2014/main" id="{A9A13DB9-7523-8849-B516-83DD55BA5352}"/>
              </a:ext>
            </a:extLst>
          </p:cNvPr>
          <p:cNvSpPr>
            <a:spLocks noGrp="1"/>
          </p:cNvSpPr>
          <p:nvPr>
            <p:ph idx="1"/>
          </p:nvPr>
        </p:nvSpPr>
        <p:spPr>
          <a:xfrm>
            <a:off x="1103313" y="2052918"/>
            <a:ext cx="5362801" cy="4543825"/>
          </a:xfrm>
        </p:spPr>
        <p:txBody>
          <a:bodyPr>
            <a:noAutofit/>
          </a:bodyPr>
          <a:lstStyle/>
          <a:p>
            <a:r>
              <a:rPr lang="en-US" dirty="0"/>
              <a:t>Handles Non-Linear Patterns</a:t>
            </a:r>
          </a:p>
          <a:p>
            <a:pPr marL="400050" lvl="1" indent="0">
              <a:buNone/>
            </a:pPr>
            <a:r>
              <a:rPr lang="en-US" sz="1400" dirty="0"/>
              <a:t>Fraud patterns aren’t linear — Random Forest captures complex relationships between features.</a:t>
            </a:r>
          </a:p>
          <a:p>
            <a:r>
              <a:rPr lang="en-US" dirty="0"/>
              <a:t>Works Better With Categorical / Noisy Data</a:t>
            </a:r>
          </a:p>
          <a:p>
            <a:pPr marL="0" indent="0">
              <a:buNone/>
            </a:pPr>
            <a:r>
              <a:rPr lang="en-US" sz="1400" dirty="0"/>
              <a:t>	Tree-based models naturally split on categories (like transaction type).</a:t>
            </a:r>
          </a:p>
          <a:p>
            <a:r>
              <a:rPr lang="en-US" dirty="0"/>
              <a:t>More Robust to Data Imbalance</a:t>
            </a:r>
          </a:p>
          <a:p>
            <a:pPr marL="400050" lvl="1" indent="0">
              <a:buNone/>
            </a:pPr>
            <a:r>
              <a:rPr lang="en-US" sz="1400" dirty="0"/>
              <a:t>It doesn't default to predicting only the majority class.</a:t>
            </a:r>
          </a:p>
          <a:p>
            <a:r>
              <a:rPr lang="en-US" dirty="0"/>
              <a:t>Reduces Overfitting</a:t>
            </a:r>
          </a:p>
          <a:p>
            <a:pPr marL="400050" lvl="1" indent="0">
              <a:buNone/>
            </a:pPr>
            <a:r>
              <a:rPr lang="en-US" sz="1400" dirty="0"/>
              <a:t>Each tree is slightly different; combined, they generalize better than a single model.</a:t>
            </a:r>
            <a:endParaRPr lang="en-US" dirty="0"/>
          </a:p>
        </p:txBody>
      </p:sp>
      <p:sp>
        <p:nvSpPr>
          <p:cNvPr id="4" name="Content Placeholder 2">
            <a:extLst>
              <a:ext uri="{FF2B5EF4-FFF2-40B4-BE49-F238E27FC236}">
                <a16:creationId xmlns:a16="http://schemas.microsoft.com/office/drawing/2014/main" id="{6CFD6E76-4470-445F-ACD2-10FF8F42AE39}"/>
              </a:ext>
            </a:extLst>
          </p:cNvPr>
          <p:cNvSpPr txBox="1">
            <a:spLocks/>
          </p:cNvSpPr>
          <p:nvPr/>
        </p:nvSpPr>
        <p:spPr>
          <a:xfrm>
            <a:off x="6466114" y="2052917"/>
            <a:ext cx="5362801" cy="4543825"/>
          </a:xfrm>
          <a:prstGeom prst="rect">
            <a:avLst/>
          </a:prstGeom>
        </p:spPr>
        <p:txBody>
          <a:bodyPr vert="horz" lIns="91440" tIns="45720" rIns="91440" bIns="45720" rtlCol="0">
            <a:noAutofit/>
          </a:bodyPr>
          <a:lstStyle>
            <a:lvl1pPr marL="342900" indent="-3429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2000" b="0" i="0" kern="1200">
                <a:solidFill>
                  <a:schemeClr val="tx1"/>
                </a:solidFill>
                <a:latin typeface="+mj-lt"/>
                <a:ea typeface="+mj-ea"/>
                <a:cs typeface="+mj-cs"/>
              </a:defRPr>
            </a:lvl1pPr>
            <a:lvl2pPr marL="742950" indent="-28575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800" b="0" i="0" kern="1200">
                <a:solidFill>
                  <a:schemeClr val="tx1"/>
                </a:solidFill>
                <a:latin typeface="+mj-lt"/>
                <a:ea typeface="+mj-ea"/>
                <a:cs typeface="+mj-cs"/>
              </a:defRPr>
            </a:lvl2pPr>
            <a:lvl3pPr marL="11430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600" b="0" i="0" kern="1200">
                <a:solidFill>
                  <a:schemeClr val="tx1"/>
                </a:solidFill>
                <a:latin typeface="+mj-lt"/>
                <a:ea typeface="+mj-ea"/>
                <a:cs typeface="+mj-cs"/>
              </a:defRPr>
            </a:lvl3pPr>
            <a:lvl4pPr marL="16002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400" b="0" i="0" kern="1200">
                <a:solidFill>
                  <a:schemeClr val="tx1"/>
                </a:solidFill>
                <a:latin typeface="+mj-lt"/>
                <a:ea typeface="+mj-ea"/>
                <a:cs typeface="+mj-cs"/>
              </a:defRPr>
            </a:lvl4pPr>
            <a:lvl5pPr marL="20574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400" b="0" i="0" kern="1200">
                <a:solidFill>
                  <a:schemeClr val="tx1"/>
                </a:solidFill>
                <a:latin typeface="+mj-lt"/>
                <a:ea typeface="+mj-ea"/>
                <a:cs typeface="+mj-cs"/>
              </a:defRPr>
            </a:lvl5pPr>
            <a:lvl6pPr marL="25060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400" b="0" i="0" kern="1200">
                <a:solidFill>
                  <a:schemeClr val="tx1"/>
                </a:solidFill>
                <a:latin typeface="+mj-lt"/>
                <a:ea typeface="+mj-ea"/>
                <a:cs typeface="+mj-cs"/>
              </a:defRPr>
            </a:lvl6pPr>
            <a:lvl7pPr marL="29718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400" b="0" i="0" kern="1200">
                <a:solidFill>
                  <a:schemeClr val="tx1"/>
                </a:solidFill>
                <a:latin typeface="+mj-lt"/>
                <a:ea typeface="+mj-ea"/>
                <a:cs typeface="+mj-cs"/>
              </a:defRPr>
            </a:lvl7pPr>
            <a:lvl8pPr marL="34290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400" b="0" i="0" kern="1200">
                <a:solidFill>
                  <a:schemeClr val="tx1"/>
                </a:solidFill>
                <a:latin typeface="+mj-lt"/>
                <a:ea typeface="+mj-ea"/>
                <a:cs typeface="+mj-cs"/>
              </a:defRPr>
            </a:lvl8pPr>
            <a:lvl9pPr marL="38862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400" b="0" i="0" kern="1200">
                <a:solidFill>
                  <a:schemeClr val="tx1"/>
                </a:solidFill>
                <a:latin typeface="+mj-lt"/>
                <a:ea typeface="+mj-ea"/>
                <a:cs typeface="+mj-cs"/>
              </a:defRPr>
            </a:lvl9pPr>
          </a:lstStyle>
          <a:p>
            <a:r>
              <a:rPr lang="en-US" dirty="0"/>
              <a:t>Feature Importance</a:t>
            </a:r>
          </a:p>
          <a:p>
            <a:pPr marL="457200" lvl="1" indent="0">
              <a:buNone/>
            </a:pPr>
            <a:r>
              <a:rPr lang="en-US" sz="1400" dirty="0"/>
              <a:t>Shows which features matter most:</a:t>
            </a:r>
          </a:p>
          <a:p>
            <a:pPr marL="1028700" lvl="2" indent="-171450">
              <a:buFont typeface="Arial" panose="020B0604020202020204" pitchFamily="34" charset="0"/>
              <a:buChar char="•"/>
            </a:pPr>
            <a:r>
              <a:rPr lang="en-US" sz="1200" dirty="0"/>
              <a:t>transaction amount</a:t>
            </a:r>
          </a:p>
          <a:p>
            <a:pPr marL="1028700" lvl="2" indent="-171450">
              <a:buFont typeface="Arial" panose="020B0604020202020204" pitchFamily="34" charset="0"/>
              <a:buChar char="•"/>
            </a:pPr>
            <a:r>
              <a:rPr lang="en-US" sz="1200" dirty="0"/>
              <a:t>origin balance differences</a:t>
            </a:r>
          </a:p>
          <a:p>
            <a:pPr marL="1028700" lvl="2" indent="-171450">
              <a:buFont typeface="Arial" panose="020B0604020202020204" pitchFamily="34" charset="0"/>
              <a:buChar char="•"/>
            </a:pPr>
            <a:r>
              <a:rPr lang="en-US" sz="1200" dirty="0"/>
              <a:t>destination balance changes</a:t>
            </a:r>
          </a:p>
          <a:p>
            <a:pPr marL="1028700" lvl="2" indent="-171450">
              <a:buFont typeface="Arial" panose="020B0604020202020204" pitchFamily="34" charset="0"/>
              <a:buChar char="•"/>
            </a:pPr>
            <a:r>
              <a:rPr lang="en-US" sz="1200" dirty="0"/>
              <a:t>transaction type</a:t>
            </a:r>
          </a:p>
          <a:p>
            <a:pPr marL="857250" lvl="2" indent="0">
              <a:buNone/>
            </a:pPr>
            <a:r>
              <a:rPr lang="en-US" sz="1200" dirty="0"/>
              <a:t>(Helps interpret  Fraud behavior)</a:t>
            </a:r>
          </a:p>
        </p:txBody>
      </p:sp>
    </p:spTree>
    <p:extLst>
      <p:ext uri="{BB962C8B-B14F-4D97-AF65-F5344CB8AC3E}">
        <p14:creationId xmlns:p14="http://schemas.microsoft.com/office/powerpoint/2010/main" val="1236169296"/>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EDA773-3B5A-2DED-D519-181C705192B2}"/>
              </a:ext>
            </a:extLst>
          </p:cNvPr>
          <p:cNvSpPr>
            <a:spLocks noGrp="1"/>
          </p:cNvSpPr>
          <p:nvPr>
            <p:ph type="title"/>
          </p:nvPr>
        </p:nvSpPr>
        <p:spPr/>
        <p:txBody>
          <a:bodyPr/>
          <a:lstStyle/>
          <a:p>
            <a:r>
              <a:rPr lang="en-US" dirty="0"/>
              <a:t>Improvements to the Model and Future Work</a:t>
            </a:r>
          </a:p>
        </p:txBody>
      </p:sp>
      <p:sp>
        <p:nvSpPr>
          <p:cNvPr id="3" name="Content Placeholder 2">
            <a:extLst>
              <a:ext uri="{FF2B5EF4-FFF2-40B4-BE49-F238E27FC236}">
                <a16:creationId xmlns:a16="http://schemas.microsoft.com/office/drawing/2014/main" id="{5E9250E6-9B82-1245-316C-951424FC716E}"/>
              </a:ext>
            </a:extLst>
          </p:cNvPr>
          <p:cNvSpPr>
            <a:spLocks noGrp="1"/>
          </p:cNvSpPr>
          <p:nvPr>
            <p:ph idx="1"/>
          </p:nvPr>
        </p:nvSpPr>
        <p:spPr/>
        <p:txBody>
          <a:bodyPr>
            <a:normAutofit lnSpcReduction="10000"/>
          </a:bodyPr>
          <a:lstStyle/>
          <a:p>
            <a:pPr marL="457200" indent="-457200">
              <a:buFont typeface="+mj-lt"/>
              <a:buAutoNum type="arabicPeriod"/>
            </a:pPr>
            <a:r>
              <a:rPr lang="en-US" dirty="0"/>
              <a:t>Recall for Fraud is 0.792, which is pretty good</a:t>
            </a:r>
          </a:p>
          <a:p>
            <a:pPr marL="457200" indent="-457200">
              <a:buFont typeface="+mj-lt"/>
              <a:buAutoNum type="arabicPeriod"/>
            </a:pPr>
            <a:r>
              <a:rPr lang="en-US" dirty="0"/>
              <a:t>To improve performance, we made the model more sensitive to frauds by bringing down the threshold from 0.5 to 0.1. This means that the model won’t take any risk of passing a fraud transaction as legitimate and flag any transaction that has a confidence of more than 10% for being fraud.</a:t>
            </a:r>
          </a:p>
          <a:p>
            <a:pPr marL="457200" indent="-457200">
              <a:buFont typeface="+mj-lt"/>
              <a:buAutoNum type="arabicPeriod"/>
            </a:pPr>
            <a:r>
              <a:rPr lang="en-US" dirty="0"/>
              <a:t>For future, we want to try to bring the recall to 0.90 in order to further enhance the performance of the model and eliminate any remaining false negatives.</a:t>
            </a:r>
          </a:p>
          <a:p>
            <a:pPr marL="457200" indent="-457200">
              <a:buFont typeface="+mj-lt"/>
              <a:buAutoNum type="arabicPeriod"/>
            </a:pPr>
            <a:r>
              <a:rPr lang="en-US" dirty="0"/>
              <a:t>Hyperparameter Tuning:</a:t>
            </a:r>
          </a:p>
          <a:p>
            <a:pPr marL="400050" lvl="1" indent="0">
              <a:buNone/>
            </a:pPr>
            <a:r>
              <a:rPr lang="en-US" dirty="0"/>
              <a:t>For a better recall, we can try using more and deeper trees.</a:t>
            </a:r>
          </a:p>
          <a:p>
            <a:pPr marL="400050" lvl="1" indent="0">
              <a:buNone/>
            </a:pPr>
            <a:r>
              <a:rPr lang="en-US" dirty="0"/>
              <a:t>This may help catch larger percentage of actual frauds.</a:t>
            </a:r>
          </a:p>
        </p:txBody>
      </p:sp>
    </p:spTree>
    <p:extLst>
      <p:ext uri="{BB962C8B-B14F-4D97-AF65-F5344CB8AC3E}">
        <p14:creationId xmlns:p14="http://schemas.microsoft.com/office/powerpoint/2010/main" val="2910749386"/>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C9A16E4-BC05-ABD6-1316-C0954B1016FC}"/>
              </a:ext>
            </a:extLst>
          </p:cNvPr>
          <p:cNvSpPr>
            <a:spLocks noGrp="1"/>
          </p:cNvSpPr>
          <p:nvPr>
            <p:ph type="title"/>
          </p:nvPr>
        </p:nvSpPr>
        <p:spPr/>
        <p:txBody>
          <a:bodyPr/>
          <a:lstStyle/>
          <a:p>
            <a:r>
              <a:rPr lang="en-US" dirty="0"/>
              <a:t>Chatbot Integration</a:t>
            </a:r>
          </a:p>
        </p:txBody>
      </p:sp>
      <p:sp>
        <p:nvSpPr>
          <p:cNvPr id="3" name="Content Placeholder 2">
            <a:extLst>
              <a:ext uri="{FF2B5EF4-FFF2-40B4-BE49-F238E27FC236}">
                <a16:creationId xmlns:a16="http://schemas.microsoft.com/office/drawing/2014/main" id="{21FA0BF1-C70E-7B2B-B180-4118394981F1}"/>
              </a:ext>
            </a:extLst>
          </p:cNvPr>
          <p:cNvSpPr>
            <a:spLocks noGrp="1"/>
          </p:cNvSpPr>
          <p:nvPr>
            <p:ph idx="1"/>
          </p:nvPr>
        </p:nvSpPr>
        <p:spPr/>
        <p:txBody>
          <a:bodyPr>
            <a:normAutofit fontScale="92500" lnSpcReduction="20000"/>
          </a:bodyPr>
          <a:lstStyle/>
          <a:p>
            <a:r>
              <a:rPr lang="en-US" dirty="0"/>
              <a:t>Used Open AI API to integrate the chatbot into the model.</a:t>
            </a:r>
          </a:p>
          <a:p>
            <a:r>
              <a:rPr lang="en-US" dirty="0"/>
              <a:t>Takes the following input:</a:t>
            </a:r>
          </a:p>
          <a:p>
            <a:pPr marL="800100" lvl="1" indent="-342900">
              <a:buFont typeface="+mj-lt"/>
              <a:buAutoNum type="arabicPeriod"/>
            </a:pPr>
            <a:r>
              <a:rPr lang="en-US" dirty="0"/>
              <a:t>Transaction Type</a:t>
            </a:r>
          </a:p>
          <a:p>
            <a:pPr marL="800100" lvl="1" indent="-342900">
              <a:buFont typeface="+mj-lt"/>
              <a:buAutoNum type="arabicPeriod"/>
            </a:pPr>
            <a:r>
              <a:rPr lang="en-US" dirty="0"/>
              <a:t>Old Victim Account Balance </a:t>
            </a:r>
          </a:p>
          <a:p>
            <a:pPr marL="800100" lvl="1" indent="-342900">
              <a:buFont typeface="+mj-lt"/>
              <a:buAutoNum type="arabicPeriod"/>
            </a:pPr>
            <a:r>
              <a:rPr lang="en-US" dirty="0"/>
              <a:t>New Victim Account Balance</a:t>
            </a:r>
          </a:p>
          <a:p>
            <a:pPr marL="800100" lvl="1" indent="-342900">
              <a:buFont typeface="+mj-lt"/>
              <a:buAutoNum type="arabicPeriod"/>
            </a:pPr>
            <a:r>
              <a:rPr lang="en-US" dirty="0"/>
              <a:t>Old Account Balance of Attacker</a:t>
            </a:r>
          </a:p>
          <a:p>
            <a:pPr marL="800100" lvl="1" indent="-342900">
              <a:buFont typeface="+mj-lt"/>
              <a:buAutoNum type="arabicPeriod"/>
            </a:pPr>
            <a:r>
              <a:rPr lang="en-US" dirty="0"/>
              <a:t>New Account Balance of Attacker</a:t>
            </a:r>
          </a:p>
          <a:p>
            <a:pPr marL="800100" lvl="1" indent="-342900">
              <a:buFont typeface="+mj-lt"/>
              <a:buAutoNum type="arabicPeriod"/>
            </a:pPr>
            <a:r>
              <a:rPr lang="en-US" dirty="0"/>
              <a:t>Prediction from the model</a:t>
            </a:r>
          </a:p>
          <a:p>
            <a:pPr marL="457200" lvl="1" indent="0">
              <a:buNone/>
            </a:pPr>
            <a:endParaRPr lang="en-US" dirty="0"/>
          </a:p>
          <a:p>
            <a:pPr marL="457200" lvl="1" indent="0">
              <a:buNone/>
            </a:pPr>
            <a:r>
              <a:rPr lang="en-US" dirty="0"/>
              <a:t>The bot uses this information to create a reasonable justification for the model’s prediction and summarizes it to the user in simple natural language. This way, our fraud detection system reduces human fatigue as the human analyzer is already presented an easy-to-understand summary of the nature of a particular transaction.</a:t>
            </a:r>
          </a:p>
          <a:p>
            <a:pPr marL="800100" lvl="1" indent="-342900">
              <a:buFont typeface="+mj-lt"/>
              <a:buAutoNum type="arabicPeriod"/>
            </a:pPr>
            <a:endParaRPr lang="en-US" dirty="0"/>
          </a:p>
        </p:txBody>
      </p:sp>
    </p:spTree>
    <p:extLst>
      <p:ext uri="{BB962C8B-B14F-4D97-AF65-F5344CB8AC3E}">
        <p14:creationId xmlns:p14="http://schemas.microsoft.com/office/powerpoint/2010/main" val="2710339736"/>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30F275F-A007-69F9-26F8-EDBAA422CE53}"/>
              </a:ext>
            </a:extLst>
          </p:cNvPr>
          <p:cNvSpPr>
            <a:spLocks noGrp="1"/>
          </p:cNvSpPr>
          <p:nvPr>
            <p:ph type="title"/>
          </p:nvPr>
        </p:nvSpPr>
        <p:spPr/>
        <p:txBody>
          <a:bodyPr/>
          <a:lstStyle/>
          <a:p>
            <a:r>
              <a:rPr lang="en-US" dirty="0"/>
              <a:t>Prompt Used for AI Explanation Bot</a:t>
            </a:r>
          </a:p>
        </p:txBody>
      </p:sp>
      <p:pic>
        <p:nvPicPr>
          <p:cNvPr id="4" name="Content Placeholder 3" descr="A screenshot of a computer error&#10;&#10;AI-generated content may be incorrect.">
            <a:extLst>
              <a:ext uri="{FF2B5EF4-FFF2-40B4-BE49-F238E27FC236}">
                <a16:creationId xmlns:a16="http://schemas.microsoft.com/office/drawing/2014/main" id="{BC002A20-9809-1674-995B-666AA095B419}"/>
              </a:ext>
            </a:extLst>
          </p:cNvPr>
          <p:cNvPicPr>
            <a:picLocks noGrp="1" noChangeAspect="1"/>
          </p:cNvPicPr>
          <p:nvPr>
            <p:ph idx="1"/>
          </p:nvPr>
        </p:nvPicPr>
        <p:blipFill>
          <a:blip r:embed="rId2"/>
          <a:stretch>
            <a:fillRect/>
          </a:stretch>
        </p:blipFill>
        <p:spPr>
          <a:xfrm>
            <a:off x="4995556" y="2385811"/>
            <a:ext cx="6799901" cy="2382131"/>
          </a:xfrm>
          <a:prstGeom prst="rect">
            <a:avLst/>
          </a:prstGeom>
        </p:spPr>
      </p:pic>
      <p:sp>
        <p:nvSpPr>
          <p:cNvPr id="5" name="TextBox 4">
            <a:extLst>
              <a:ext uri="{FF2B5EF4-FFF2-40B4-BE49-F238E27FC236}">
                <a16:creationId xmlns:a16="http://schemas.microsoft.com/office/drawing/2014/main" id="{5452E04A-F471-83D4-13B5-4FBF8A883082}"/>
              </a:ext>
            </a:extLst>
          </p:cNvPr>
          <p:cNvSpPr txBox="1"/>
          <p:nvPr/>
        </p:nvSpPr>
        <p:spPr>
          <a:xfrm>
            <a:off x="925895" y="2027538"/>
            <a:ext cx="3524807" cy="3693319"/>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dirty="0"/>
              <a:t>The image here shows the prompt we gave to the OpenAI API in order to generate an easy to understand explanation for a flagged transaction. The chatbot is instructed to use the input data to generate brief explanation of 2-5 sentences. We also instructed it to not invent data as OpenAI LLMs tend to do that sometimes.</a:t>
            </a:r>
          </a:p>
        </p:txBody>
      </p:sp>
    </p:spTree>
    <p:extLst>
      <p:ext uri="{BB962C8B-B14F-4D97-AF65-F5344CB8AC3E}">
        <p14:creationId xmlns:p14="http://schemas.microsoft.com/office/powerpoint/2010/main" val="3179939292"/>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1F2C244-E60B-B3FF-2DD2-C9D3962ABEAA}"/>
              </a:ext>
            </a:extLst>
          </p:cNvPr>
          <p:cNvSpPr>
            <a:spLocks noGrp="1"/>
          </p:cNvSpPr>
          <p:nvPr>
            <p:ph type="title"/>
          </p:nvPr>
        </p:nvSpPr>
        <p:spPr/>
        <p:txBody>
          <a:bodyPr/>
          <a:lstStyle/>
          <a:p>
            <a:r>
              <a:rPr lang="en-US" dirty="0"/>
              <a:t>Current working model</a:t>
            </a:r>
          </a:p>
        </p:txBody>
      </p:sp>
      <p:pic>
        <p:nvPicPr>
          <p:cNvPr id="4" name="Content Placeholder 3" descr="A screenshot of a black screen&#10;&#10;AI-generated content may be incorrect.">
            <a:extLst>
              <a:ext uri="{FF2B5EF4-FFF2-40B4-BE49-F238E27FC236}">
                <a16:creationId xmlns:a16="http://schemas.microsoft.com/office/drawing/2014/main" id="{F20C0CDD-60D5-28E1-0C67-258933D374EF}"/>
              </a:ext>
            </a:extLst>
          </p:cNvPr>
          <p:cNvPicPr>
            <a:picLocks noGrp="1" noChangeAspect="1"/>
          </p:cNvPicPr>
          <p:nvPr>
            <p:ph idx="1"/>
          </p:nvPr>
        </p:nvPicPr>
        <p:blipFill>
          <a:blip r:embed="rId2"/>
          <a:stretch>
            <a:fillRect/>
          </a:stretch>
        </p:blipFill>
        <p:spPr>
          <a:xfrm>
            <a:off x="1506269" y="1378488"/>
            <a:ext cx="2720497" cy="4407205"/>
          </a:xfrm>
          <a:prstGeom prst="rect">
            <a:avLst/>
          </a:prstGeom>
        </p:spPr>
      </p:pic>
      <p:pic>
        <p:nvPicPr>
          <p:cNvPr id="5" name="Picture 4" descr="A screenshot of a computer&#10;&#10;AI-generated content may be incorrect.">
            <a:extLst>
              <a:ext uri="{FF2B5EF4-FFF2-40B4-BE49-F238E27FC236}">
                <a16:creationId xmlns:a16="http://schemas.microsoft.com/office/drawing/2014/main" id="{2BFBFCC6-527F-898F-B1C9-FE40ED500515}"/>
              </a:ext>
            </a:extLst>
          </p:cNvPr>
          <p:cNvPicPr>
            <a:picLocks noChangeAspect="1"/>
          </p:cNvPicPr>
          <p:nvPr/>
        </p:nvPicPr>
        <p:blipFill>
          <a:blip r:embed="rId3"/>
          <a:stretch>
            <a:fillRect/>
          </a:stretch>
        </p:blipFill>
        <p:spPr>
          <a:xfrm>
            <a:off x="6553589" y="1312071"/>
            <a:ext cx="2963636" cy="4540038"/>
          </a:xfrm>
          <a:prstGeom prst="rect">
            <a:avLst/>
          </a:prstGeom>
        </p:spPr>
      </p:pic>
      <p:sp>
        <p:nvSpPr>
          <p:cNvPr id="3" name="TextBox 2">
            <a:extLst>
              <a:ext uri="{FF2B5EF4-FFF2-40B4-BE49-F238E27FC236}">
                <a16:creationId xmlns:a16="http://schemas.microsoft.com/office/drawing/2014/main" id="{4D860273-A36F-8F1D-FC00-2CF3FEA5F333}"/>
              </a:ext>
            </a:extLst>
          </p:cNvPr>
          <p:cNvSpPr txBox="1"/>
          <p:nvPr/>
        </p:nvSpPr>
        <p:spPr>
          <a:xfrm>
            <a:off x="1506267" y="5889563"/>
            <a:ext cx="2720496" cy="369332"/>
          </a:xfrm>
          <a:prstGeom prst="rect">
            <a:avLst/>
          </a:prstGeom>
          <a:noFill/>
        </p:spPr>
        <p:txBody>
          <a:bodyPr wrap="square" rtlCol="0">
            <a:spAutoFit/>
          </a:bodyPr>
          <a:lstStyle/>
          <a:p>
            <a:r>
              <a:rPr lang="en-US" dirty="0"/>
              <a:t>Legitimate Transaction</a:t>
            </a:r>
          </a:p>
        </p:txBody>
      </p:sp>
      <p:sp>
        <p:nvSpPr>
          <p:cNvPr id="6" name="TextBox 5">
            <a:extLst>
              <a:ext uri="{FF2B5EF4-FFF2-40B4-BE49-F238E27FC236}">
                <a16:creationId xmlns:a16="http://schemas.microsoft.com/office/drawing/2014/main" id="{81703449-97B2-6687-6562-6AD44B2E6DFE}"/>
              </a:ext>
            </a:extLst>
          </p:cNvPr>
          <p:cNvSpPr txBox="1"/>
          <p:nvPr/>
        </p:nvSpPr>
        <p:spPr>
          <a:xfrm>
            <a:off x="7039485" y="5889563"/>
            <a:ext cx="2286000" cy="369332"/>
          </a:xfrm>
          <a:prstGeom prst="rect">
            <a:avLst/>
          </a:prstGeom>
          <a:noFill/>
        </p:spPr>
        <p:txBody>
          <a:bodyPr wrap="square" rtlCol="0">
            <a:spAutoFit/>
          </a:bodyPr>
          <a:lstStyle/>
          <a:p>
            <a:r>
              <a:rPr lang="en-US" dirty="0"/>
              <a:t>Fraud Transaction</a:t>
            </a:r>
          </a:p>
        </p:txBody>
      </p:sp>
    </p:spTree>
    <p:extLst>
      <p:ext uri="{BB962C8B-B14F-4D97-AF65-F5344CB8AC3E}">
        <p14:creationId xmlns:p14="http://schemas.microsoft.com/office/powerpoint/2010/main" val="4229405257"/>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C4751DC-AFF7-351A-0C9D-0861E4F3D26B}"/>
              </a:ext>
            </a:extLst>
          </p:cNvPr>
          <p:cNvSpPr>
            <a:spLocks noGrp="1"/>
          </p:cNvSpPr>
          <p:nvPr>
            <p:ph type="title"/>
          </p:nvPr>
        </p:nvSpPr>
        <p:spPr/>
        <p:txBody>
          <a:bodyPr/>
          <a:lstStyle/>
          <a:p>
            <a:r>
              <a:rPr lang="en-US" dirty="0"/>
              <a:t>Conclusion</a:t>
            </a:r>
          </a:p>
        </p:txBody>
      </p:sp>
      <p:sp>
        <p:nvSpPr>
          <p:cNvPr id="3" name="Content Placeholder 2">
            <a:extLst>
              <a:ext uri="{FF2B5EF4-FFF2-40B4-BE49-F238E27FC236}">
                <a16:creationId xmlns:a16="http://schemas.microsoft.com/office/drawing/2014/main" id="{461A187D-64DD-1775-7521-16873EDC3B08}"/>
              </a:ext>
            </a:extLst>
          </p:cNvPr>
          <p:cNvSpPr>
            <a:spLocks noGrp="1"/>
          </p:cNvSpPr>
          <p:nvPr>
            <p:ph idx="1"/>
          </p:nvPr>
        </p:nvSpPr>
        <p:spPr/>
        <p:txBody>
          <a:bodyPr/>
          <a:lstStyle/>
          <a:p>
            <a:r>
              <a:rPr lang="en-US" dirty="0"/>
              <a:t>Fraud Detection has transformed drastically along with the growth of AI and Machine Learning Technologies.</a:t>
            </a:r>
          </a:p>
          <a:p>
            <a:r>
              <a:rPr lang="en-US" dirty="0"/>
              <a:t>Modern Fraud Detectors can use ML algorithms to detect common fraud patterns given a set of existing data.</a:t>
            </a:r>
          </a:p>
          <a:p>
            <a:r>
              <a:rPr lang="en-US" dirty="0"/>
              <a:t>Given the drastic imbalance between fraud and non-fraud in the dataset, with fraud being less than 1%, using logistic regression can give inaccurate results.</a:t>
            </a:r>
          </a:p>
          <a:p>
            <a:r>
              <a:rPr lang="en-US" dirty="0"/>
              <a:t>Random Forest Algorithm handles this problem better but still need to improve recall to be at least 90%.</a:t>
            </a:r>
          </a:p>
          <a:p>
            <a:r>
              <a:rPr lang="en-US" dirty="0"/>
              <a:t>Adding a chatbot reduces human fatigue and saves time in analyzing reason for a flagged fraud transaction.</a:t>
            </a:r>
          </a:p>
        </p:txBody>
      </p:sp>
    </p:spTree>
    <p:extLst>
      <p:ext uri="{BB962C8B-B14F-4D97-AF65-F5344CB8AC3E}">
        <p14:creationId xmlns:p14="http://schemas.microsoft.com/office/powerpoint/2010/main" val="3263092342"/>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4CC72539-9238-4589-2B95-E25259D39ACB}"/>
              </a:ext>
            </a:extLst>
          </p:cNvPr>
          <p:cNvSpPr txBox="1"/>
          <p:nvPr/>
        </p:nvSpPr>
        <p:spPr>
          <a:xfrm>
            <a:off x="2976465" y="2621902"/>
            <a:ext cx="7529804" cy="1446550"/>
          </a:xfrm>
          <a:prstGeom prst="rect">
            <a:avLst/>
          </a:prstGeom>
          <a:noFill/>
        </p:spPr>
        <p:txBody>
          <a:bodyPr wrap="square" rtlCol="0">
            <a:spAutoFit/>
          </a:bodyPr>
          <a:lstStyle/>
          <a:p>
            <a:r>
              <a:rPr lang="en-US" sz="8800" dirty="0"/>
              <a:t>Thank You!</a:t>
            </a:r>
          </a:p>
        </p:txBody>
      </p:sp>
    </p:spTree>
    <p:extLst>
      <p:ext uri="{BB962C8B-B14F-4D97-AF65-F5344CB8AC3E}">
        <p14:creationId xmlns:p14="http://schemas.microsoft.com/office/powerpoint/2010/main" val="1367319"/>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C6B6E1A-AF59-DA54-EF82-62E9FEAD191F}"/>
              </a:ext>
            </a:extLst>
          </p:cNvPr>
          <p:cNvSpPr>
            <a:spLocks noGrp="1"/>
          </p:cNvSpPr>
          <p:nvPr>
            <p:ph type="title"/>
          </p:nvPr>
        </p:nvSpPr>
        <p:spPr/>
        <p:txBody>
          <a:bodyPr/>
          <a:lstStyle/>
          <a:p>
            <a:r>
              <a:rPr lang="en-US" dirty="0"/>
              <a:t>References</a:t>
            </a:r>
          </a:p>
        </p:txBody>
      </p:sp>
      <p:sp>
        <p:nvSpPr>
          <p:cNvPr id="3" name="Content Placeholder 2">
            <a:extLst>
              <a:ext uri="{FF2B5EF4-FFF2-40B4-BE49-F238E27FC236}">
                <a16:creationId xmlns:a16="http://schemas.microsoft.com/office/drawing/2014/main" id="{03F316C9-EE9F-A214-37A3-AEA8080ACB30}"/>
              </a:ext>
            </a:extLst>
          </p:cNvPr>
          <p:cNvSpPr>
            <a:spLocks noGrp="1"/>
          </p:cNvSpPr>
          <p:nvPr>
            <p:ph idx="1"/>
          </p:nvPr>
        </p:nvSpPr>
        <p:spPr/>
        <p:txBody>
          <a:bodyPr>
            <a:normAutofit/>
          </a:bodyPr>
          <a:lstStyle/>
          <a:p>
            <a:pPr marL="0" indent="0">
              <a:buNone/>
            </a:pPr>
            <a:r>
              <a:rPr lang="en-US" sz="1400" dirty="0"/>
              <a:t>[1]Data Science with Onur, “Fraud Detection Using Machine Learning – Full Python Data Science Project (94% Accuracy),” </a:t>
            </a:r>
            <a:r>
              <a:rPr lang="en-US" sz="1400" i="1" dirty="0"/>
              <a:t>YouTube</a:t>
            </a:r>
            <a:r>
              <a:rPr lang="en-US" sz="1400" dirty="0"/>
              <a:t>, Apr. 21, 2025. https://www.youtube.com/watch?v=4Od5_z28iIE (accessed Nov. 16, 2025).</a:t>
            </a:r>
          </a:p>
          <a:p>
            <a:pPr marL="0" indent="0">
              <a:buNone/>
            </a:pPr>
            <a:r>
              <a:rPr lang="en-US" sz="1400" dirty="0"/>
              <a:t>[2]</a:t>
            </a:r>
            <a:r>
              <a:rPr lang="en-US" sz="1400" dirty="0" err="1"/>
              <a:t>GeeksforGeeks</a:t>
            </a:r>
            <a:r>
              <a:rPr lang="en-US" sz="1400" dirty="0"/>
              <a:t>, “Random Forest Algorithm in Machine Learning,” </a:t>
            </a:r>
            <a:r>
              <a:rPr lang="en-US" sz="1400" i="1" dirty="0" err="1"/>
              <a:t>GeeksforGeeks</a:t>
            </a:r>
            <a:r>
              <a:rPr lang="en-US" sz="1400" dirty="0"/>
              <a:t>, Feb. 22, 2024. https://www.geeksforgeeks.org/machine-learning/random-forest-algorithm-in-machine-learning/</a:t>
            </a:r>
          </a:p>
          <a:p>
            <a:pPr marL="0" indent="0">
              <a:buNone/>
            </a:pPr>
            <a:r>
              <a:rPr lang="en-US" sz="1400" dirty="0"/>
              <a:t>[3]Sruthi, “Random Forest | Introduction to Random Forest Algorithm,” </a:t>
            </a:r>
            <a:r>
              <a:rPr lang="en-US" sz="1400" i="1" dirty="0"/>
              <a:t>Analytics Vidhya</a:t>
            </a:r>
            <a:r>
              <a:rPr lang="en-US" sz="1400" dirty="0"/>
              <a:t>, Jun. 17, 2021. https://www.analyticsvidhya.com/blog/2021/06/understanding-random-forest/</a:t>
            </a:r>
          </a:p>
          <a:p>
            <a:pPr marL="0" indent="0">
              <a:buNone/>
            </a:pPr>
            <a:endParaRPr lang="en-US" dirty="0"/>
          </a:p>
          <a:p>
            <a:pPr marL="0" indent="0">
              <a:buNone/>
            </a:pPr>
            <a:endParaRPr lang="en-US" dirty="0"/>
          </a:p>
          <a:p>
            <a:endParaRPr lang="en-US" dirty="0"/>
          </a:p>
        </p:txBody>
      </p:sp>
    </p:spTree>
    <p:extLst>
      <p:ext uri="{BB962C8B-B14F-4D97-AF65-F5344CB8AC3E}">
        <p14:creationId xmlns:p14="http://schemas.microsoft.com/office/powerpoint/2010/main" val="4231868642"/>
      </p:ext>
    </p:extLst>
  </p:cSld>
  <p:clrMapOvr>
    <a:masterClrMapping/>
  </p:clrMapOvr>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Ion">
  <a:themeElements>
    <a:clrScheme name="Ion">
      <a:dk1>
        <a:sysClr val="windowText" lastClr="000000"/>
      </a:dk1>
      <a:lt1>
        <a:sysClr val="window" lastClr="FFFFFF"/>
      </a:lt1>
      <a:dk2>
        <a:srgbClr val="1E5155"/>
      </a:dk2>
      <a:lt2>
        <a:srgbClr val="EBEBEB"/>
      </a:lt2>
      <a:accent1>
        <a:srgbClr val="B01513"/>
      </a:accent1>
      <a:accent2>
        <a:srgbClr val="EA6312"/>
      </a:accent2>
      <a:accent3>
        <a:srgbClr val="E6B729"/>
      </a:accent3>
      <a:accent4>
        <a:srgbClr val="6AAC90"/>
      </a:accent4>
      <a:accent5>
        <a:srgbClr val="54849A"/>
      </a:accent5>
      <a:accent6>
        <a:srgbClr val="9E5E9B"/>
      </a:accent6>
      <a:hlink>
        <a:srgbClr val="58C1BA"/>
      </a:hlink>
      <a:folHlink>
        <a:srgbClr val="9DFFCB"/>
      </a:folHlink>
    </a:clrScheme>
    <a:fontScheme name="Ion">
      <a:majorFont>
        <a:latin typeface="Century Gothic" panose="020B0502020202020204"/>
        <a:ea typeface=""/>
        <a:cs typeface=""/>
        <a:font script="Jpan" typeface="メイリオ"/>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entury Gothic" panose="020B0502020202020204"/>
        <a:ea typeface=""/>
        <a:cs typeface=""/>
        <a:font script="Jpan" typeface="メイリオ"/>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Ion">
      <a:fillStyleLst>
        <a:solidFill>
          <a:schemeClr val="phClr"/>
        </a:solidFill>
        <a:gradFill rotWithShape="1">
          <a:gsLst>
            <a:gs pos="0">
              <a:schemeClr val="phClr">
                <a:tint val="64000"/>
                <a:lumMod val="118000"/>
              </a:schemeClr>
            </a:gs>
            <a:gs pos="100000">
              <a:schemeClr val="phClr">
                <a:tint val="92000"/>
                <a:alpha val="100000"/>
                <a:lumMod val="110000"/>
              </a:schemeClr>
            </a:gs>
          </a:gsLst>
          <a:lin ang="5400000" scaled="0"/>
        </a:gradFill>
        <a:gradFill rotWithShape="1">
          <a:gsLst>
            <a:gs pos="0">
              <a:schemeClr val="phClr">
                <a:tint val="98000"/>
                <a:lumMod val="114000"/>
              </a:schemeClr>
            </a:gs>
            <a:gs pos="100000">
              <a:schemeClr val="phClr">
                <a:shade val="90000"/>
                <a:lumMod val="84000"/>
              </a:schemeClr>
            </a:gs>
          </a:gsLst>
          <a:lin ang="5400000" scaled="0"/>
        </a:gradFill>
      </a:fillStyleLst>
      <a:lnStyleLst>
        <a:ln w="9525" cap="rnd" cmpd="sng" algn="ctr">
          <a:solidFill>
            <a:schemeClr val="phClr"/>
          </a:solidFill>
          <a:prstDash val="solid"/>
        </a:ln>
        <a:ln w="19050" cap="rnd" cmpd="sng" algn="ctr">
          <a:solidFill>
            <a:schemeClr val="phClr"/>
          </a:solidFill>
          <a:prstDash val="solid"/>
        </a:ln>
        <a:ln w="28575" cap="rnd" cmpd="sng" algn="ctr">
          <a:solidFill>
            <a:schemeClr val="phClr"/>
          </a:solidFill>
          <a:prstDash val="solid"/>
        </a:ln>
      </a:lnStyleLst>
      <a:effectStyleLst>
        <a:effectStyle>
          <a:effectLst/>
        </a:effectStyle>
        <a:effectStyle>
          <a:effectLst>
            <a:outerShdw blurRad="38100" dist="25400" dir="5400000" rotWithShape="0">
              <a:srgbClr val="000000">
                <a:alpha val="45000"/>
              </a:srgbClr>
            </a:outerShdw>
          </a:effectLst>
        </a:effectStyle>
        <a:effectStyle>
          <a:effectLst>
            <a:outerShdw blurRad="63500" dist="38100" dir="5400000" rotWithShape="0">
              <a:srgbClr val="000000">
                <a:alpha val="60000"/>
              </a:srgbClr>
            </a:outerShdw>
          </a:effectLst>
          <a:scene3d>
            <a:camera prst="orthographicFront">
              <a:rot lat="0" lon="0" rev="0"/>
            </a:camera>
            <a:lightRig rig="threePt" dir="tl"/>
          </a:scene3d>
          <a:sp3d prstMaterial="plastic">
            <a:bevelT w="0" h="0"/>
          </a:sp3d>
        </a:effectStyle>
      </a:effectStyleLst>
      <a:bgFillStyleLst>
        <a:solidFill>
          <a:schemeClr val="phClr"/>
        </a:solidFill>
        <a:gradFill rotWithShape="1">
          <a:gsLst>
            <a:gs pos="0">
              <a:schemeClr val="phClr">
                <a:tint val="97000"/>
                <a:hueMod val="88000"/>
                <a:satMod val="130000"/>
                <a:lumMod val="124000"/>
              </a:schemeClr>
            </a:gs>
            <a:gs pos="100000">
              <a:schemeClr val="phClr">
                <a:tint val="96000"/>
                <a:shade val="88000"/>
                <a:hueMod val="108000"/>
                <a:satMod val="164000"/>
                <a:lumMod val="76000"/>
              </a:schemeClr>
            </a:gs>
          </a:gsLst>
          <a:path path="circle">
            <a:fillToRect l="45000" t="65000" r="125000" b="100000"/>
          </a:path>
        </a:gradFill>
        <a:blipFill rotWithShape="1">
          <a:blip xmlns:r="http://schemas.openxmlformats.org/officeDocument/2006/relationships" r:embed="rId1">
            <a:duotone>
              <a:schemeClr val="phClr">
                <a:shade val="69000"/>
                <a:hueMod val="108000"/>
                <a:satMod val="164000"/>
                <a:lumMod val="74000"/>
              </a:schemeClr>
              <a:schemeClr val="phClr">
                <a:tint val="96000"/>
                <a:hueMod val="88000"/>
                <a:satMod val="140000"/>
                <a:lumMod val="132000"/>
              </a:schemeClr>
            </a:duotone>
          </a:blip>
          <a:stretch/>
        </a:blipFill>
      </a:bgFillStyleLst>
    </a:fmtScheme>
  </a:themeElements>
  <a:objectDefaults/>
  <a:extraClrSchemeLst/>
  <a:extLst>
    <a:ext uri="{05A4C25C-085E-4340-85A3-A5531E510DB2}">
      <thm15:themeFamily xmlns:thm15="http://schemas.microsoft.com/office/thememl/2012/main" name="Ion" id="{B8441ADB-2E43-4AF7-B97A-BD870242C6A8}" vid="{292E63A9-BB86-4E3D-B92A-7223C6510D2E}"/>
    </a:ext>
  </a:extLst>
</a:theme>
</file>

<file path=docProps/app.xml><?xml version="1.0" encoding="utf-8"?>
<Properties xmlns="http://schemas.openxmlformats.org/officeDocument/2006/extended-properties" xmlns:vt="http://schemas.openxmlformats.org/officeDocument/2006/docPropsVTypes">
  <Template>Ion</Template>
  <TotalTime>3335</TotalTime>
  <Words>2664</Words>
  <Application>Microsoft Office PowerPoint</Application>
  <PresentationFormat>Widescreen</PresentationFormat>
  <Paragraphs>225</Paragraphs>
  <Slides>32</Slides>
  <Notes>0</Notes>
  <HiddenSlides>0</HiddenSlides>
  <MMClips>0</MMClips>
  <ScaleCrop>false</ScaleCrop>
  <HeadingPairs>
    <vt:vector size="4" baseType="variant">
      <vt:variant>
        <vt:lpstr>Theme</vt:lpstr>
      </vt:variant>
      <vt:variant>
        <vt:i4>1</vt:i4>
      </vt:variant>
      <vt:variant>
        <vt:lpstr>Slide Titles</vt:lpstr>
      </vt:variant>
      <vt:variant>
        <vt:i4>32</vt:i4>
      </vt:variant>
    </vt:vector>
  </HeadingPairs>
  <TitlesOfParts>
    <vt:vector size="33" baseType="lpstr">
      <vt:lpstr>Ion</vt:lpstr>
      <vt:lpstr>Fraud Detection and Risk Assessment AI-Chatbot System</vt:lpstr>
      <vt:lpstr>Traditional Fraud Detection Systems</vt:lpstr>
      <vt:lpstr>AI/ML in Fraud Detection Systems</vt:lpstr>
      <vt:lpstr>Benefits/advantages of ai in FDS</vt:lpstr>
      <vt:lpstr>Issues with AI/ML based Fraud Detection Systems</vt:lpstr>
      <vt:lpstr>Chatbot solution with reliable analysis and summarization</vt:lpstr>
      <vt:lpstr>Explaining the Data used to create the Detection Model</vt:lpstr>
      <vt:lpstr>Explaining each Column/Category in the dataset and their importance</vt:lpstr>
      <vt:lpstr>Is this data reliable for a Random Forest Detection Model?</vt:lpstr>
      <vt:lpstr>Data Visualizations</vt:lpstr>
      <vt:lpstr>PowerPoint Presentation</vt:lpstr>
      <vt:lpstr>PowerPoint Presentation</vt:lpstr>
      <vt:lpstr>PowerPoint Presentation</vt:lpstr>
      <vt:lpstr>PowerPoint Presentation</vt:lpstr>
      <vt:lpstr>Data Visualizations</vt:lpstr>
      <vt:lpstr>PowerPoint Presentation</vt:lpstr>
      <vt:lpstr>Technology Stack: Tools and Libraries used</vt:lpstr>
      <vt:lpstr>Logistic Regression Algorithm </vt:lpstr>
      <vt:lpstr>How Logistic Regression Works</vt:lpstr>
      <vt:lpstr>Model Performance:</vt:lpstr>
      <vt:lpstr>Logistic Regression: What went Wrong</vt:lpstr>
      <vt:lpstr>Random Forest Algorithm  (Final Choice for Model)</vt:lpstr>
      <vt:lpstr>How Random Forest Works</vt:lpstr>
      <vt:lpstr>Model Performance</vt:lpstr>
      <vt:lpstr>Why Random Forest is a better Choice?</vt:lpstr>
      <vt:lpstr>Improvements to the Model and Future Work</vt:lpstr>
      <vt:lpstr>Chatbot Integration</vt:lpstr>
      <vt:lpstr>Prompt Used for AI Explanation Bot</vt:lpstr>
      <vt:lpstr>Current working model</vt:lpstr>
      <vt:lpstr>Conclusion</vt:lpstr>
      <vt:lpstr>PowerPoint Presentation</vt:lpstr>
      <vt:lpstr>References</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Chirag Dwivedi</dc:creator>
  <cp:lastModifiedBy>Chirag Dwivedi</cp:lastModifiedBy>
  <cp:revision>267</cp:revision>
  <dcterms:created xsi:type="dcterms:W3CDTF">2025-11-08T19:32:58Z</dcterms:created>
  <dcterms:modified xsi:type="dcterms:W3CDTF">2025-12-13T00:37:38Z</dcterms:modified>
</cp:coreProperties>
</file>